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embeddedFontLst>
    <p:embeddedFont>
      <p:font typeface="Archivo Narrow" panose="020B0604020202020204" charset="0"/>
      <p:regular r:id="rId12"/>
      <p:bold r:id="rId13"/>
      <p:italic r:id="rId14"/>
      <p:boldItalic r:id="rId15"/>
    </p:embeddedFont>
    <p:embeddedFont>
      <p:font typeface="Georgia" panose="02040502050405020303" pitchFamily="18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4900" cy="41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0413" cy="3427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7d1ac3093_7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3f7d1ac3093_7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7d1ac3093_7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3f7d1ac3093_7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7d1ac3093_7_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f7d1ac3093_7_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7d1ac3093_7_1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f7d1ac3093_7_1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7d1ac3093_7_1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g3f7d1ac3093_7_1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7d1ac3093_7_17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3f7d1ac3093_7_17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7d1ac3093_7_20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3f7d1ac3093_7_20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7d1ac3093_7_2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3f7d1ac3093_7_2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" name="Google Shape;13;p2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f314db6c67_89_0)">
  <p:cSld name="Generated (g3f314db6c67_89_0)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(g3f314db6c67_138_0)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7" name="Google Shape;27;p5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6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7" name="Google Shape;37;p6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6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7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" name="Google Shape;45;p7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1pPr>
            <a:lvl2pPr marL="914400" lvl="1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2pPr>
            <a:lvl3pPr marL="1371600" lvl="2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" name="Google Shape;54;p8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9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9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" name="Google Shape;62;p9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9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68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10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3" name="Google Shape;73;p10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1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1" name="Google Shape;81;p11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1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1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/>
            </a:lvl1pPr>
            <a:lvl2pPr marL="914400" lvl="1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2pPr>
            <a:lvl3pPr marL="1371600" lvl="2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3pPr>
            <a:lvl4pPr marL="1828800" lvl="3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4pPr>
            <a:lvl5pPr marL="2286000" lvl="4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5pPr>
            <a:lvl6pPr marL="2743200" lvl="5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/>
            </a:lvl6pPr>
            <a:lvl7pPr marL="3200400" lvl="6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/>
            </a:lvl7pPr>
            <a:lvl8pPr marL="3657600" lvl="7" indent="-3429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  <a:defRPr/>
            </a:lvl8pPr>
            <a:lvl9pPr marL="4114800" lvl="8" indent="-34290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1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2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0" name="Google Shape;90;p12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2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2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 (g3f7d1ac3093_6_0)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chivo Narrow"/>
              <a:buNone/>
              <a:defRPr sz="2800" b="1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14"/>
          <p:cNvCxnSpPr/>
          <p:nvPr/>
        </p:nvCxnSpPr>
        <p:spPr>
          <a:xfrm>
            <a:off x="762000" y="1714500"/>
            <a:ext cx="0" cy="2286000"/>
          </a:xfrm>
          <a:prstGeom prst="straightConnector1">
            <a:avLst/>
          </a:prstGeom>
          <a:solidFill>
            <a:srgbClr val="FFFFFF"/>
          </a:solidFill>
          <a:ln w="47625" cap="rnd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" name="Google Shape;101;p14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4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1000125" y="1666875"/>
            <a:ext cx="7239000" cy="23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Department of A</a:t>
            </a:r>
            <a:r>
              <a:rPr lang="en-US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I and Data Science</a:t>
            </a:r>
            <a:endParaRPr sz="1400" b="1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3200" b="0">
                <a:solidFill>
                  <a:srgbClr val="111827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Memory and Context Management when Prompting Large Language Models</a:t>
            </a:r>
            <a:endParaRPr sz="3200" b="0">
              <a:solidFill>
                <a:srgbClr val="111827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sp>
        <p:nvSpPr>
          <p:cNvPr id="103" name="Google Shape;103;p1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14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200" b="0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 b="0" i="0" u="none" strike="noStrike" cap="none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63F10E-E557-78D3-B53C-FC40CD86DDD0}"/>
              </a:ext>
            </a:extLst>
          </p:cNvPr>
          <p:cNvSpPr txBox="1"/>
          <p:nvPr/>
        </p:nvSpPr>
        <p:spPr>
          <a:xfrm>
            <a:off x="524933" y="4453855"/>
            <a:ext cx="7383992" cy="1234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4000"/>
              </a:lnSpc>
              <a:spcBef>
                <a:spcPts val="600"/>
              </a:spcBef>
              <a:buSzPts val="1800"/>
            </a:pPr>
            <a:r>
              <a:rPr lang="en-US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members:-</a:t>
            </a:r>
          </a:p>
          <a:p>
            <a:pPr lvl="0">
              <a:buSzPts val="1800"/>
            </a:pPr>
            <a:r>
              <a:rPr lang="en-US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Irense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Susan Jose 2362081</a:t>
            </a:r>
          </a:p>
          <a:p>
            <a:pPr lvl="0"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 J Parthasarathy 2362095</a:t>
            </a:r>
          </a:p>
          <a:p>
            <a:pPr lvl="0"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Sankeerth S 2362156</a:t>
            </a:r>
          </a:p>
          <a:p>
            <a:pPr lvl="0">
              <a:buSzPts val="1800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Samuel Alex Nedumattom 2362154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0" y="6347460"/>
            <a:ext cx="9144900" cy="51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87" y="0"/>
                </a:moveTo>
                <a:lnTo>
                  <a:pt x="119150" y="0"/>
                </a:lnTo>
                <a:cubicBezTo>
                  <a:pt x="119375" y="0"/>
                  <a:pt x="119588" y="1567"/>
                  <a:pt x="119750" y="4478"/>
                </a:cubicBezTo>
                <a:cubicBezTo>
                  <a:pt x="119913" y="7164"/>
                  <a:pt x="120000" y="11194"/>
                  <a:pt x="120000" y="15000"/>
                </a:cubicBezTo>
                <a:lnTo>
                  <a:pt x="120000" y="120000"/>
                </a:lnTo>
                <a:lnTo>
                  <a:pt x="0" y="120000"/>
                </a:lnTo>
                <a:lnTo>
                  <a:pt x="0" y="15000"/>
                </a:lnTo>
                <a:cubicBezTo>
                  <a:pt x="0" y="6716"/>
                  <a:pt x="375" y="0"/>
                  <a:pt x="837" y="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343275" y="6429375"/>
            <a:ext cx="2457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90" b="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6936100" y="0"/>
            <a:ext cx="2208000" cy="61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5807" y="120000"/>
                </a:moveTo>
                <a:lnTo>
                  <a:pt x="4193" y="120000"/>
                </a:lnTo>
                <a:cubicBezTo>
                  <a:pt x="3106" y="120000"/>
                  <a:pt x="2019" y="118512"/>
                  <a:pt x="1242" y="115721"/>
                </a:cubicBezTo>
                <a:cubicBezTo>
                  <a:pt x="466" y="112930"/>
                  <a:pt x="0" y="109023"/>
                  <a:pt x="0" y="105116"/>
                </a:cubicBezTo>
                <a:lnTo>
                  <a:pt x="0" y="0"/>
                </a:lnTo>
                <a:lnTo>
                  <a:pt x="120000" y="0"/>
                </a:lnTo>
                <a:lnTo>
                  <a:pt x="120000" y="105116"/>
                </a:lnTo>
                <a:cubicBezTo>
                  <a:pt x="120000" y="113302"/>
                  <a:pt x="118135" y="120000"/>
                  <a:pt x="115807" y="12000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-3800" y="0"/>
            <a:ext cx="9154500" cy="319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9401" y="120000"/>
                </a:moveTo>
                <a:lnTo>
                  <a:pt x="587" y="120000"/>
                </a:lnTo>
                <a:cubicBezTo>
                  <a:pt x="425" y="120000"/>
                  <a:pt x="275" y="118209"/>
                  <a:pt x="175" y="114627"/>
                </a:cubicBezTo>
                <a:cubicBezTo>
                  <a:pt x="62" y="111403"/>
                  <a:pt x="0" y="107104"/>
                  <a:pt x="0" y="102448"/>
                </a:cubicBezTo>
                <a:lnTo>
                  <a:pt x="0" y="0"/>
                </a:lnTo>
                <a:lnTo>
                  <a:pt x="120000" y="0"/>
                </a:lnTo>
                <a:lnTo>
                  <a:pt x="120000" y="102448"/>
                </a:lnTo>
                <a:cubicBezTo>
                  <a:pt x="120000" y="111761"/>
                  <a:pt x="119738" y="120000"/>
                  <a:pt x="119401" y="12000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943725" y="247650"/>
            <a:ext cx="2200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9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119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02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190" b="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476250" y="666750"/>
            <a:ext cx="61914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2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476250" y="1476375"/>
            <a:ext cx="8191500" cy="46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Char char="●"/>
            </a:pPr>
            <a:r>
              <a:rPr lang="en-US" sz="14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Large Language Models (LLMs)</a:t>
            </a:r>
            <a:r>
              <a:rPr lang="en-US" sz="14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generate text by predicting the next token based on the input (prompt) given to them.</a:t>
            </a:r>
            <a:endParaRPr sz="1400" b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Char char="●"/>
            </a:pPr>
            <a:r>
              <a:rPr lang="en-US" sz="14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Prompt Engineering</a:t>
            </a:r>
            <a:r>
              <a:rPr lang="en-US" sz="14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is the practice of designing prompts to improve accuracy and control over model output.</a:t>
            </a:r>
            <a:endParaRPr sz="1400" b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Char char="●"/>
            </a:pPr>
            <a:r>
              <a:rPr lang="en-US" sz="14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Key prompting techniques:</a:t>
            </a:r>
            <a:r>
              <a:rPr lang="en-US" sz="14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Zero-shot, One-shot, and Few-shot prompting — varying the number of examples given.</a:t>
            </a:r>
            <a:endParaRPr sz="1400" b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Char char="●"/>
            </a:pPr>
            <a:r>
              <a:rPr lang="en-US" sz="14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Chain-of-Thought (CoT) and Tree-of-Thought (ToT)</a:t>
            </a:r>
            <a:r>
              <a:rPr lang="en-US" sz="14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prompting encourage step-by-step or branching reasoning.</a:t>
            </a:r>
            <a:endParaRPr sz="1400" b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Arial"/>
              <a:buChar char="●"/>
            </a:pPr>
            <a:r>
              <a:rPr lang="en-US" sz="14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ReAct</a:t>
            </a:r>
            <a:r>
              <a:rPr lang="en-US" sz="14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interleaves reasoning with tool-use actions, forming the basis of modern AI agents.</a:t>
            </a:r>
            <a:endParaRPr sz="1400" b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1200"/>
              </a:spcBef>
              <a:spcAft>
                <a:spcPts val="1200"/>
              </a:spcAft>
              <a:buClr>
                <a:srgbClr val="333333"/>
              </a:buClr>
              <a:buSzPts val="1400"/>
              <a:buFont typeface="Arial"/>
              <a:buChar char="●"/>
            </a:pPr>
            <a:r>
              <a:rPr lang="en-US" sz="14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Role Prompting and System Prompting</a:t>
            </a:r>
            <a:r>
              <a:rPr lang="en-US" sz="14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shape persona and persistent behaviour throughout a session.</a:t>
            </a:r>
            <a:endParaRPr sz="1400" b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0" y="6347460"/>
            <a:ext cx="9155400" cy="51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87" y="0"/>
                </a:moveTo>
                <a:lnTo>
                  <a:pt x="119164" y="0"/>
                </a:lnTo>
                <a:cubicBezTo>
                  <a:pt x="119388" y="0"/>
                  <a:pt x="119600" y="1567"/>
                  <a:pt x="119763" y="4478"/>
                </a:cubicBezTo>
                <a:cubicBezTo>
                  <a:pt x="119925" y="7388"/>
                  <a:pt x="120000" y="11194"/>
                  <a:pt x="120000" y="15000"/>
                </a:cubicBezTo>
                <a:lnTo>
                  <a:pt x="120000" y="120000"/>
                </a:lnTo>
                <a:lnTo>
                  <a:pt x="0" y="120000"/>
                </a:lnTo>
                <a:lnTo>
                  <a:pt x="0" y="15000"/>
                </a:lnTo>
                <a:cubicBezTo>
                  <a:pt x="0" y="6716"/>
                  <a:pt x="375" y="0"/>
                  <a:pt x="836" y="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3343275" y="6477000"/>
            <a:ext cx="2457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77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6949440" y="0"/>
            <a:ext cx="2205900" cy="61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5907" y="0"/>
                </a:moveTo>
                <a:lnTo>
                  <a:pt x="4197" y="0"/>
                </a:lnTo>
                <a:cubicBezTo>
                  <a:pt x="3109" y="0"/>
                  <a:pt x="2021" y="1674"/>
                  <a:pt x="1244" y="4465"/>
                </a:cubicBezTo>
                <a:cubicBezTo>
                  <a:pt x="466" y="7256"/>
                  <a:pt x="0" y="10977"/>
                  <a:pt x="0" y="15070"/>
                </a:cubicBezTo>
                <a:lnTo>
                  <a:pt x="0" y="120000"/>
                </a:lnTo>
                <a:lnTo>
                  <a:pt x="120000" y="120000"/>
                </a:lnTo>
                <a:lnTo>
                  <a:pt x="120000" y="15070"/>
                </a:lnTo>
                <a:cubicBezTo>
                  <a:pt x="120000" y="6698"/>
                  <a:pt x="118135" y="0"/>
                  <a:pt x="115907" y="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0" y="0"/>
            <a:ext cx="9155400" cy="319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9388" y="120000"/>
                </a:moveTo>
                <a:lnTo>
                  <a:pt x="587" y="120000"/>
                </a:lnTo>
                <a:cubicBezTo>
                  <a:pt x="424" y="120000"/>
                  <a:pt x="275" y="118209"/>
                  <a:pt x="175" y="114627"/>
                </a:cubicBezTo>
                <a:cubicBezTo>
                  <a:pt x="62" y="111403"/>
                  <a:pt x="0" y="107104"/>
                  <a:pt x="0" y="102448"/>
                </a:cubicBezTo>
                <a:lnTo>
                  <a:pt x="0" y="0"/>
                </a:lnTo>
                <a:lnTo>
                  <a:pt x="120000" y="0"/>
                </a:lnTo>
                <a:lnTo>
                  <a:pt x="120000" y="102448"/>
                </a:lnTo>
                <a:cubicBezTo>
                  <a:pt x="120000" y="111761"/>
                  <a:pt x="119738" y="120000"/>
                  <a:pt x="119388" y="12000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943725" y="247650"/>
            <a:ext cx="22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77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66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77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476250" y="5715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continued...</a:t>
            </a:r>
            <a:endParaRPr sz="2400" b="1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476250" y="1285875"/>
            <a:ext cx="8191500" cy="49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rial"/>
              <a:buChar char="●"/>
            </a:pPr>
            <a:r>
              <a:rPr lang="en-US" sz="13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Stateless Nature of LLMs:</a:t>
            </a:r>
            <a:r>
              <a:rPr lang="en-US" sz="13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LLMs are largely stateless — by default they do not retain information across separate sessions or API calls.</a:t>
            </a:r>
            <a:endParaRPr sz="1300" b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rial"/>
              <a:buChar char="●"/>
            </a:pPr>
            <a:r>
              <a:rPr lang="en-US" sz="13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Memory Management:</a:t>
            </a:r>
            <a:r>
              <a:rPr lang="en-US" sz="13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Techniques that let an LLM store, retrieve, and reuse information beyond a single prompt (in-context, parametric, and external memory).</a:t>
            </a:r>
            <a:endParaRPr sz="1300" b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rial"/>
              <a:buChar char="●"/>
            </a:pPr>
            <a:r>
              <a:rPr lang="en-US" sz="13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Context Management:</a:t>
            </a:r>
            <a:r>
              <a:rPr lang="en-US" sz="13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Techniques that decide what information is placed inside the model's fixed-size context window at any given time.</a:t>
            </a:r>
            <a:endParaRPr sz="1300" b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rial"/>
              <a:buChar char="●"/>
            </a:pPr>
            <a:r>
              <a:rPr lang="en-US" sz="13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The Context Window:</a:t>
            </a:r>
            <a:r>
              <a:rPr lang="en-US" sz="13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The maximum number of tokens (input + output) an LLM can process in one call — commonly 4K to 1M+ tokens depending on the model.</a:t>
            </a:r>
            <a:endParaRPr sz="1300" b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rial"/>
              <a:buChar char="●"/>
            </a:pPr>
            <a:r>
              <a:rPr lang="en-US" sz="13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Impact of Poor Management:</a:t>
            </a:r>
            <a:r>
              <a:rPr lang="en-US" sz="13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Poor management leads to context overflow, hallucination, high cost, and the well-documented "lost-in-the-middle" effect.</a:t>
            </a:r>
            <a:endParaRPr sz="1300" b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1200"/>
              </a:spcAft>
              <a:buClr>
                <a:srgbClr val="0B5394"/>
              </a:buClr>
              <a:buSzPts val="1300"/>
              <a:buFont typeface="Arial"/>
              <a:buChar char="●"/>
            </a:pPr>
            <a:r>
              <a:rPr lang="en-US" sz="13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Context Engineering:</a:t>
            </a:r>
            <a:r>
              <a:rPr lang="en-US" sz="13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Together, these two disciplines (memory and context management) form the emerging field of Context Engineering.</a:t>
            </a:r>
            <a:endParaRPr sz="1300" b="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0" y="6347450"/>
            <a:ext cx="9155400" cy="51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87" y="0"/>
                </a:moveTo>
                <a:lnTo>
                  <a:pt x="119164" y="0"/>
                </a:lnTo>
                <a:cubicBezTo>
                  <a:pt x="119388" y="0"/>
                  <a:pt x="119600" y="1567"/>
                  <a:pt x="119763" y="4480"/>
                </a:cubicBezTo>
                <a:cubicBezTo>
                  <a:pt x="119925" y="7390"/>
                  <a:pt x="120000" y="11196"/>
                  <a:pt x="120000" y="15000"/>
                </a:cubicBezTo>
                <a:lnTo>
                  <a:pt x="120000" y="120000"/>
                </a:lnTo>
                <a:lnTo>
                  <a:pt x="0" y="120000"/>
                </a:lnTo>
                <a:lnTo>
                  <a:pt x="0" y="15000"/>
                </a:lnTo>
                <a:cubicBezTo>
                  <a:pt x="0" y="6714"/>
                  <a:pt x="375" y="0"/>
                  <a:pt x="836" y="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3343275" y="6477000"/>
            <a:ext cx="2457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77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7" name="Google Shape;137;p17"/>
          <p:cNvSpPr/>
          <p:nvPr/>
        </p:nvSpPr>
        <p:spPr>
          <a:xfrm>
            <a:off x="6936105" y="0"/>
            <a:ext cx="2208000" cy="61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5910" y="120000"/>
                </a:moveTo>
                <a:lnTo>
                  <a:pt x="4193" y="120000"/>
                </a:lnTo>
                <a:cubicBezTo>
                  <a:pt x="3106" y="120000"/>
                  <a:pt x="2019" y="118512"/>
                  <a:pt x="1242" y="115721"/>
                </a:cubicBezTo>
                <a:cubicBezTo>
                  <a:pt x="466" y="112930"/>
                  <a:pt x="0" y="109023"/>
                  <a:pt x="0" y="105116"/>
                </a:cubicBezTo>
                <a:lnTo>
                  <a:pt x="0" y="0"/>
                </a:lnTo>
                <a:lnTo>
                  <a:pt x="120000" y="0"/>
                </a:lnTo>
                <a:lnTo>
                  <a:pt x="120000" y="105116"/>
                </a:lnTo>
                <a:cubicBezTo>
                  <a:pt x="120000" y="113302"/>
                  <a:pt x="118136" y="120000"/>
                  <a:pt x="115910" y="12000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0" y="0"/>
            <a:ext cx="9155400" cy="319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9388" y="120000"/>
                </a:moveTo>
                <a:lnTo>
                  <a:pt x="587" y="120000"/>
                </a:lnTo>
                <a:cubicBezTo>
                  <a:pt x="424" y="120000"/>
                  <a:pt x="275" y="118205"/>
                  <a:pt x="175" y="114624"/>
                </a:cubicBezTo>
                <a:cubicBezTo>
                  <a:pt x="62" y="111400"/>
                  <a:pt x="0" y="107105"/>
                  <a:pt x="0" y="102444"/>
                </a:cubicBezTo>
                <a:lnTo>
                  <a:pt x="0" y="0"/>
                </a:lnTo>
                <a:lnTo>
                  <a:pt x="120000" y="0"/>
                </a:lnTo>
                <a:lnTo>
                  <a:pt x="120000" y="102444"/>
                </a:lnTo>
                <a:cubicBezTo>
                  <a:pt x="120000" y="111758"/>
                  <a:pt x="119738" y="120000"/>
                  <a:pt x="119388" y="12000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943725" y="247650"/>
            <a:ext cx="22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77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66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77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476250" y="5715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continued...</a:t>
            </a:r>
            <a:endParaRPr sz="2400" b="1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76250" y="1285875"/>
            <a:ext cx="8191500" cy="49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rial"/>
              <a:buChar char="●"/>
            </a:pPr>
            <a:r>
              <a:rPr lang="en-US" sz="13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Real-world systems</a:t>
            </a:r>
            <a:r>
              <a:rPr lang="en-US" sz="13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— chatbots, coding assistants, enterprise search, customer support bots, and autonomous agents — all depend on effective memory and context handling.</a:t>
            </a:r>
            <a:endParaRPr sz="1300" b="1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rial"/>
              <a:buChar char="●"/>
            </a:pPr>
            <a:r>
              <a:rPr lang="en-US" sz="13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As conversations, documents, and agent tasks grow longer</a:t>
            </a:r>
            <a:r>
              <a:rPr lang="en-US" sz="13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naive approaches (stuffing everything into the prompt) quickly become inefficient or impossible.</a:t>
            </a:r>
            <a:endParaRPr sz="1300" b="1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rial"/>
              <a:buChar char="●"/>
            </a:pPr>
            <a:r>
              <a:rPr lang="en-US" sz="13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Core techniques used in practice:</a:t>
            </a:r>
            <a:r>
              <a:rPr lang="en-US" sz="13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sliding windows, summarization, Retrieval-Augmented Generation (RAG), vector databases, and KV caching.</a:t>
            </a:r>
            <a:endParaRPr sz="1300" b="1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0"/>
              </a:spcAft>
              <a:buClr>
                <a:srgbClr val="0B5394"/>
              </a:buClr>
              <a:buSzPts val="1300"/>
              <a:buFont typeface="Arial"/>
              <a:buChar char="●"/>
            </a:pPr>
            <a:r>
              <a:rPr lang="en-US" sz="13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Modern research (2023–2026)</a:t>
            </a:r>
            <a:r>
              <a:rPr lang="en-US" sz="13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increasingly treats LLM memory like an operating system manages RAM and disk (e.g., MemGPT).</a:t>
            </a:r>
            <a:endParaRPr sz="1300" b="1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spcBef>
                <a:spcPts val="900"/>
              </a:spcBef>
              <a:spcAft>
                <a:spcPts val="900"/>
              </a:spcAft>
              <a:buClr>
                <a:srgbClr val="0B5394"/>
              </a:buClr>
              <a:buSzPts val="1300"/>
              <a:buFont typeface="Arial"/>
              <a:buChar char="●"/>
            </a:pPr>
            <a:r>
              <a:rPr lang="en-US" sz="13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This seminar reviews</a:t>
            </a:r>
            <a:r>
              <a:rPr lang="en-US" sz="130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the current literature, identifies open research gaps, and proposes objectives for further study.</a:t>
            </a:r>
            <a:endParaRPr sz="1300" b="1">
              <a:solidFill>
                <a:srgbClr val="0B53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0" y="6347460"/>
            <a:ext cx="9144000" cy="57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75" y="0"/>
                </a:moveTo>
                <a:lnTo>
                  <a:pt x="119150" y="0"/>
                </a:lnTo>
                <a:cubicBezTo>
                  <a:pt x="119375" y="0"/>
                  <a:pt x="119588" y="1393"/>
                  <a:pt x="119750" y="3980"/>
                </a:cubicBezTo>
                <a:cubicBezTo>
                  <a:pt x="119912" y="6368"/>
                  <a:pt x="120000" y="9950"/>
                  <a:pt x="120000" y="13333"/>
                </a:cubicBezTo>
                <a:lnTo>
                  <a:pt x="120000" y="120000"/>
                </a:lnTo>
                <a:lnTo>
                  <a:pt x="0" y="120000"/>
                </a:lnTo>
                <a:lnTo>
                  <a:pt x="0" y="13333"/>
                </a:lnTo>
                <a:cubicBezTo>
                  <a:pt x="0" y="5970"/>
                  <a:pt x="375" y="0"/>
                  <a:pt x="837" y="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" name="Google Shape;148;p18"/>
          <p:cNvGrpSpPr/>
          <p:nvPr/>
        </p:nvGrpSpPr>
        <p:grpSpPr>
          <a:xfrm>
            <a:off x="3343275" y="6429375"/>
            <a:ext cx="2457600" cy="285900"/>
            <a:chOff x="0" y="0"/>
            <a:chExt cx="2457600" cy="285900"/>
          </a:xfrm>
        </p:grpSpPr>
        <p:sp>
          <p:nvSpPr>
            <p:cNvPr id="149" name="Google Shape;149;p18"/>
            <p:cNvSpPr/>
            <p:nvPr/>
          </p:nvSpPr>
          <p:spPr>
            <a:xfrm>
              <a:off x="0" y="0"/>
              <a:ext cx="24576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0" y="0"/>
              <a:ext cx="2457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7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Excellence and Service</a:t>
              </a:r>
              <a:endParaRPr sz="77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151" name="Google Shape;151;p18"/>
          <p:cNvSpPr/>
          <p:nvPr/>
        </p:nvSpPr>
        <p:spPr>
          <a:xfrm>
            <a:off x="6936105" y="0"/>
            <a:ext cx="2208000" cy="61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5807" y="120000"/>
                </a:moveTo>
                <a:lnTo>
                  <a:pt x="4193" y="120000"/>
                </a:lnTo>
                <a:cubicBezTo>
                  <a:pt x="3106" y="120000"/>
                  <a:pt x="2019" y="118512"/>
                  <a:pt x="1242" y="115721"/>
                </a:cubicBezTo>
                <a:cubicBezTo>
                  <a:pt x="466" y="112930"/>
                  <a:pt x="0" y="109023"/>
                  <a:pt x="0" y="105116"/>
                </a:cubicBezTo>
                <a:lnTo>
                  <a:pt x="0" y="0"/>
                </a:lnTo>
                <a:lnTo>
                  <a:pt x="120000" y="0"/>
                </a:lnTo>
                <a:lnTo>
                  <a:pt x="120000" y="105116"/>
                </a:lnTo>
                <a:cubicBezTo>
                  <a:pt x="120000" y="113302"/>
                  <a:pt x="118136" y="120000"/>
                  <a:pt x="115807" y="12000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-3810" y="0"/>
            <a:ext cx="9154500" cy="319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9401" y="120000"/>
                </a:moveTo>
                <a:lnTo>
                  <a:pt x="587" y="120000"/>
                </a:lnTo>
                <a:cubicBezTo>
                  <a:pt x="425" y="120000"/>
                  <a:pt x="275" y="118209"/>
                  <a:pt x="175" y="114627"/>
                </a:cubicBezTo>
                <a:cubicBezTo>
                  <a:pt x="62" y="111403"/>
                  <a:pt x="0" y="107104"/>
                  <a:pt x="0" y="102448"/>
                </a:cubicBezTo>
                <a:lnTo>
                  <a:pt x="0" y="0"/>
                </a:lnTo>
                <a:lnTo>
                  <a:pt x="120000" y="0"/>
                </a:lnTo>
                <a:lnTo>
                  <a:pt x="120000" y="102448"/>
                </a:lnTo>
                <a:cubicBezTo>
                  <a:pt x="120000" y="111761"/>
                  <a:pt x="119738" y="120000"/>
                  <a:pt x="119401" y="12000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" name="Google Shape;153;p18"/>
          <p:cNvGrpSpPr/>
          <p:nvPr/>
        </p:nvGrpSpPr>
        <p:grpSpPr>
          <a:xfrm>
            <a:off x="6943725" y="247650"/>
            <a:ext cx="2200200" cy="228600"/>
            <a:chOff x="0" y="0"/>
            <a:chExt cx="2200200" cy="228600"/>
          </a:xfrm>
        </p:grpSpPr>
        <p:sp>
          <p:nvSpPr>
            <p:cNvPr id="154" name="Google Shape;154;p18"/>
            <p:cNvSpPr/>
            <p:nvPr/>
          </p:nvSpPr>
          <p:spPr>
            <a:xfrm>
              <a:off x="0" y="0"/>
              <a:ext cx="2200200" cy="228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0" y="0"/>
              <a:ext cx="22002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7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CHRIST</a:t>
              </a:r>
              <a:br>
                <a:rPr lang="en-US" sz="77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</a:br>
              <a:r>
                <a:rPr lang="en-US" sz="660" b="1">
                  <a:solidFill>
                    <a:srgbClr val="0B5394"/>
                  </a:solidFill>
                  <a:latin typeface="Georgia"/>
                  <a:ea typeface="Georgia"/>
                  <a:cs typeface="Georgia"/>
                  <a:sym typeface="Georgia"/>
                </a:rPr>
                <a:t>Deemed to be University</a:t>
              </a:r>
              <a:endParaRPr sz="77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156" name="Google Shape;156;p18"/>
          <p:cNvGrpSpPr/>
          <p:nvPr/>
        </p:nvGrpSpPr>
        <p:grpSpPr>
          <a:xfrm>
            <a:off x="476250" y="571500"/>
            <a:ext cx="8191500" cy="476400"/>
            <a:chOff x="0" y="0"/>
            <a:chExt cx="8191500" cy="476400"/>
          </a:xfrm>
        </p:grpSpPr>
        <p:sp>
          <p:nvSpPr>
            <p:cNvPr id="157" name="Google Shape;157;p18"/>
            <p:cNvSpPr/>
            <p:nvPr/>
          </p:nvSpPr>
          <p:spPr>
            <a:xfrm>
              <a:off x="0" y="0"/>
              <a:ext cx="81915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8"/>
            <p:cNvSpPr txBox="1"/>
            <p:nvPr/>
          </p:nvSpPr>
          <p:spPr>
            <a:xfrm>
              <a:off x="0" y="0"/>
              <a:ext cx="819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Literature Review</a:t>
              </a:r>
              <a:endParaRPr sz="24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" name="Google Shape;159;p18"/>
          <p:cNvGrpSpPr/>
          <p:nvPr/>
        </p:nvGrpSpPr>
        <p:grpSpPr>
          <a:xfrm>
            <a:off x="476250" y="1285875"/>
            <a:ext cx="8191500" cy="381000"/>
            <a:chOff x="0" y="0"/>
            <a:chExt cx="8191500" cy="381000"/>
          </a:xfrm>
        </p:grpSpPr>
        <p:sp>
          <p:nvSpPr>
            <p:cNvPr id="160" name="Google Shape;160;p18"/>
            <p:cNvSpPr/>
            <p:nvPr/>
          </p:nvSpPr>
          <p:spPr>
            <a:xfrm>
              <a:off x="0" y="0"/>
              <a:ext cx="8191500" cy="381000"/>
            </a:xfrm>
            <a:prstGeom prst="roundRect">
              <a:avLst>
                <a:gd name="adj" fmla="val 10000"/>
              </a:avLst>
            </a:prstGeom>
            <a:solidFill>
              <a:srgbClr val="F3F6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1" name="Google Shape;161;p18"/>
            <p:cNvCxnSpPr/>
            <p:nvPr/>
          </p:nvCxnSpPr>
          <p:spPr>
            <a:xfrm>
              <a:off x="0" y="38100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0B53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2" name="Google Shape;162;p18"/>
            <p:cNvSpPr txBox="1"/>
            <p:nvPr/>
          </p:nvSpPr>
          <p:spPr>
            <a:xfrm>
              <a:off x="142875" y="0"/>
              <a:ext cx="1238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Author(s) (Year)</a:t>
              </a:r>
              <a:endParaRPr sz="11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8"/>
            <p:cNvSpPr txBox="1"/>
            <p:nvPr/>
          </p:nvSpPr>
          <p:spPr>
            <a:xfrm>
              <a:off x="1524000" y="0"/>
              <a:ext cx="1238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Venue / Journal</a:t>
              </a:r>
              <a:endParaRPr sz="11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8"/>
            <p:cNvSpPr txBox="1"/>
            <p:nvPr/>
          </p:nvSpPr>
          <p:spPr>
            <a:xfrm>
              <a:off x="2905125" y="0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Purpose / Contribution</a:t>
              </a:r>
              <a:endParaRPr sz="11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8"/>
            <p:cNvSpPr txBox="1"/>
            <p:nvPr/>
          </p:nvSpPr>
          <p:spPr>
            <a:xfrm>
              <a:off x="6000750" y="0"/>
              <a:ext cx="2047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Research Gap / Limitation</a:t>
              </a:r>
              <a:endParaRPr sz="11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18"/>
          <p:cNvGrpSpPr/>
          <p:nvPr/>
        </p:nvGrpSpPr>
        <p:grpSpPr>
          <a:xfrm>
            <a:off x="476250" y="1762125"/>
            <a:ext cx="8191500" cy="685800"/>
            <a:chOff x="0" y="0"/>
            <a:chExt cx="8191500" cy="685800"/>
          </a:xfrm>
        </p:grpSpPr>
        <p:sp>
          <p:nvSpPr>
            <p:cNvPr id="167" name="Google Shape;167;p18"/>
            <p:cNvSpPr/>
            <p:nvPr/>
          </p:nvSpPr>
          <p:spPr>
            <a:xfrm>
              <a:off x="0" y="0"/>
              <a:ext cx="8191500" cy="68580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68" name="Google Shape;168;p18"/>
            <p:cNvCxnSpPr/>
            <p:nvPr/>
          </p:nvCxnSpPr>
          <p:spPr>
            <a:xfrm>
              <a:off x="0" y="68580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69" name="Google Shape;169;p18"/>
            <p:cNvSpPr txBox="1"/>
            <p:nvPr/>
          </p:nvSpPr>
          <p:spPr>
            <a:xfrm>
              <a:off x="142875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Lewis et al.</a:t>
              </a:r>
              <a:endParaRPr sz="105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2020</a:t>
              </a:r>
              <a:endParaRPr sz="950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8"/>
            <p:cNvSpPr txBox="1"/>
            <p:nvPr/>
          </p:nvSpPr>
          <p:spPr>
            <a:xfrm>
              <a:off x="15240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NeurIPS</a:t>
              </a:r>
              <a:endParaRPr sz="10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8"/>
            <p:cNvSpPr txBox="1"/>
            <p:nvPr/>
          </p:nvSpPr>
          <p:spPr>
            <a:xfrm>
              <a:off x="2905125" y="0"/>
              <a:ext cx="2952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Proposed Retrieval-Augmented Generation (RAG) to ground LLM output in retrieved documents.</a:t>
              </a:r>
              <a:endParaRPr sz="10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8"/>
            <p:cNvSpPr txBox="1"/>
            <p:nvPr/>
          </p:nvSpPr>
          <p:spPr>
            <a:xfrm>
              <a:off x="6000750" y="0"/>
              <a:ext cx="20478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Retrieval quality bottlenecks output; added query latency.</a:t>
              </a:r>
              <a:endParaRPr sz="10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" name="Google Shape;173;p18"/>
          <p:cNvGrpSpPr/>
          <p:nvPr/>
        </p:nvGrpSpPr>
        <p:grpSpPr>
          <a:xfrm>
            <a:off x="476250" y="2495550"/>
            <a:ext cx="8191500" cy="685800"/>
            <a:chOff x="0" y="0"/>
            <a:chExt cx="8191500" cy="685800"/>
          </a:xfrm>
        </p:grpSpPr>
        <p:sp>
          <p:nvSpPr>
            <p:cNvPr id="174" name="Google Shape;174;p18"/>
            <p:cNvSpPr/>
            <p:nvPr/>
          </p:nvSpPr>
          <p:spPr>
            <a:xfrm>
              <a:off x="0" y="0"/>
              <a:ext cx="8191500" cy="68580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75" name="Google Shape;175;p18"/>
            <p:cNvCxnSpPr/>
            <p:nvPr/>
          </p:nvCxnSpPr>
          <p:spPr>
            <a:xfrm>
              <a:off x="0" y="68580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6" name="Google Shape;176;p18"/>
            <p:cNvSpPr txBox="1"/>
            <p:nvPr/>
          </p:nvSpPr>
          <p:spPr>
            <a:xfrm>
              <a:off x="142875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Wei et al.</a:t>
              </a:r>
              <a:endParaRPr sz="105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2022</a:t>
              </a:r>
              <a:endParaRPr sz="950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15240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NeurIPS</a:t>
              </a:r>
              <a:endParaRPr sz="10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8"/>
            <p:cNvSpPr txBox="1"/>
            <p:nvPr/>
          </p:nvSpPr>
          <p:spPr>
            <a:xfrm>
              <a:off x="2905125" y="0"/>
              <a:ext cx="2952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Introduced Chain-of-Thought prompting to elicit step-by-step reasoning.</a:t>
              </a:r>
              <a:endParaRPr sz="10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8"/>
            <p:cNvSpPr txBox="1"/>
            <p:nvPr/>
          </p:nvSpPr>
          <p:spPr>
            <a:xfrm>
              <a:off x="6000750" y="0"/>
              <a:ext cx="20478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Benefits only emerge at large model scale; extra token cost.</a:t>
              </a:r>
              <a:endParaRPr sz="10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" name="Google Shape;180;p18"/>
          <p:cNvGrpSpPr/>
          <p:nvPr/>
        </p:nvGrpSpPr>
        <p:grpSpPr>
          <a:xfrm>
            <a:off x="476250" y="3228975"/>
            <a:ext cx="8191500" cy="685800"/>
            <a:chOff x="0" y="0"/>
            <a:chExt cx="8191500" cy="685800"/>
          </a:xfrm>
        </p:grpSpPr>
        <p:sp>
          <p:nvSpPr>
            <p:cNvPr id="181" name="Google Shape;181;p18"/>
            <p:cNvSpPr/>
            <p:nvPr/>
          </p:nvSpPr>
          <p:spPr>
            <a:xfrm>
              <a:off x="0" y="0"/>
              <a:ext cx="8191500" cy="68580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2" name="Google Shape;182;p18"/>
            <p:cNvCxnSpPr/>
            <p:nvPr/>
          </p:nvCxnSpPr>
          <p:spPr>
            <a:xfrm>
              <a:off x="0" y="68580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3" name="Google Shape;183;p18"/>
            <p:cNvSpPr txBox="1"/>
            <p:nvPr/>
          </p:nvSpPr>
          <p:spPr>
            <a:xfrm>
              <a:off x="142875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Yao et al.</a:t>
              </a:r>
              <a:endParaRPr sz="105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2023</a:t>
              </a:r>
              <a:endParaRPr sz="950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15240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ICLR</a:t>
              </a:r>
              <a:endParaRPr sz="10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2905125" y="0"/>
              <a:ext cx="2952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Proposed ReAct, unifying reasoning and tool-use actions in one loop.</a:t>
              </a:r>
              <a:endParaRPr sz="10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6000750" y="0"/>
              <a:ext cx="20478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Long traces consume context window; error propagation.</a:t>
              </a:r>
              <a:endParaRPr sz="10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18"/>
          <p:cNvGrpSpPr/>
          <p:nvPr/>
        </p:nvGrpSpPr>
        <p:grpSpPr>
          <a:xfrm>
            <a:off x="476250" y="3962400"/>
            <a:ext cx="8191500" cy="685800"/>
            <a:chOff x="0" y="0"/>
            <a:chExt cx="8191500" cy="685800"/>
          </a:xfrm>
        </p:grpSpPr>
        <p:sp>
          <p:nvSpPr>
            <p:cNvPr id="188" name="Google Shape;188;p18"/>
            <p:cNvSpPr/>
            <p:nvPr/>
          </p:nvSpPr>
          <p:spPr>
            <a:xfrm>
              <a:off x="0" y="0"/>
              <a:ext cx="8191500" cy="68580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89" name="Google Shape;189;p18"/>
            <p:cNvCxnSpPr/>
            <p:nvPr/>
          </p:nvCxnSpPr>
          <p:spPr>
            <a:xfrm>
              <a:off x="0" y="68580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0" name="Google Shape;190;p18"/>
            <p:cNvSpPr txBox="1"/>
            <p:nvPr/>
          </p:nvSpPr>
          <p:spPr>
            <a:xfrm>
              <a:off x="142875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Liu et al.</a:t>
              </a:r>
              <a:endParaRPr sz="105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2023/2024</a:t>
              </a:r>
              <a:endParaRPr sz="950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8"/>
            <p:cNvSpPr txBox="1"/>
            <p:nvPr/>
          </p:nvSpPr>
          <p:spPr>
            <a:xfrm>
              <a:off x="15240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TACL</a:t>
              </a:r>
              <a:endParaRPr sz="10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8"/>
            <p:cNvSpPr txBox="1"/>
            <p:nvPr/>
          </p:nvSpPr>
          <p:spPr>
            <a:xfrm>
              <a:off x="2905125" y="0"/>
              <a:ext cx="2952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Diagnosed the "lost-in-the-middle" effect in long-context recall.</a:t>
              </a:r>
              <a:endParaRPr sz="10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8"/>
            <p:cNvSpPr txBox="1"/>
            <p:nvPr/>
          </p:nvSpPr>
          <p:spPr>
            <a:xfrm>
              <a:off x="6000750" y="0"/>
              <a:ext cx="20478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Diagnostic only — does not propose a fix.</a:t>
              </a:r>
              <a:endParaRPr sz="10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4" name="Google Shape;194;p18"/>
          <p:cNvGrpSpPr/>
          <p:nvPr/>
        </p:nvGrpSpPr>
        <p:grpSpPr>
          <a:xfrm>
            <a:off x="476250" y="4695825"/>
            <a:ext cx="8191500" cy="685800"/>
            <a:chOff x="0" y="0"/>
            <a:chExt cx="8191500" cy="685800"/>
          </a:xfrm>
        </p:grpSpPr>
        <p:sp>
          <p:nvSpPr>
            <p:cNvPr id="195" name="Google Shape;195;p18"/>
            <p:cNvSpPr/>
            <p:nvPr/>
          </p:nvSpPr>
          <p:spPr>
            <a:xfrm>
              <a:off x="0" y="0"/>
              <a:ext cx="8191500" cy="68580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96" name="Google Shape;196;p18"/>
            <p:cNvCxnSpPr/>
            <p:nvPr/>
          </p:nvCxnSpPr>
          <p:spPr>
            <a:xfrm>
              <a:off x="0" y="68580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97" name="Google Shape;197;p18"/>
            <p:cNvSpPr txBox="1"/>
            <p:nvPr/>
          </p:nvSpPr>
          <p:spPr>
            <a:xfrm>
              <a:off x="142875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Packer et al.</a:t>
              </a:r>
              <a:endParaRPr sz="105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2023</a:t>
              </a:r>
              <a:endParaRPr sz="950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15240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arXiv</a:t>
              </a:r>
              <a:endParaRPr sz="10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2905125" y="0"/>
              <a:ext cx="2952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Introduced MemGPT — OS-inspired virtual memory paging for LLMs.</a:t>
              </a:r>
              <a:endParaRPr sz="10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6000750" y="0"/>
              <a:ext cx="20478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Depends on reliable function-calling; added complexity.</a:t>
              </a:r>
              <a:endParaRPr sz="10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476250" y="5429250"/>
            <a:ext cx="8191500" cy="685800"/>
            <a:chOff x="0" y="0"/>
            <a:chExt cx="8191500" cy="6858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0"/>
              <a:ext cx="8191500" cy="68580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3" name="Google Shape;203;p18"/>
            <p:cNvCxnSpPr/>
            <p:nvPr/>
          </p:nvCxnSpPr>
          <p:spPr>
            <a:xfrm>
              <a:off x="0" y="685800"/>
              <a:ext cx="81915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04" name="Google Shape;204;p18"/>
            <p:cNvSpPr txBox="1"/>
            <p:nvPr/>
          </p:nvSpPr>
          <p:spPr>
            <a:xfrm>
              <a:off x="142875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Zhong et al.</a:t>
              </a:r>
              <a:endParaRPr sz="105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50" b="0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2024</a:t>
              </a:r>
              <a:endParaRPr sz="950" b="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8"/>
            <p:cNvSpPr txBox="1"/>
            <p:nvPr/>
          </p:nvSpPr>
          <p:spPr>
            <a:xfrm>
              <a:off x="15240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AAAI</a:t>
              </a:r>
              <a:endParaRPr sz="10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8"/>
            <p:cNvSpPr txBox="1"/>
            <p:nvPr/>
          </p:nvSpPr>
          <p:spPr>
            <a:xfrm>
              <a:off x="2905125" y="0"/>
              <a:ext cx="29529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Proposed MemoryBank with forgetting-curve-based memory decay.</a:t>
              </a:r>
              <a:endParaRPr sz="10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8"/>
            <p:cNvSpPr txBox="1"/>
            <p:nvPr/>
          </p:nvSpPr>
          <p:spPr>
            <a:xfrm>
              <a:off x="6000750" y="0"/>
              <a:ext cx="20478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May discard information that later becomes relevant.</a:t>
              </a:r>
              <a:endParaRPr sz="10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9"/>
          <p:cNvSpPr/>
          <p:nvPr/>
        </p:nvSpPr>
        <p:spPr>
          <a:xfrm>
            <a:off x="0" y="6347460"/>
            <a:ext cx="9155400" cy="51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836" y="0"/>
                </a:moveTo>
                <a:lnTo>
                  <a:pt x="119164" y="0"/>
                </a:lnTo>
                <a:cubicBezTo>
                  <a:pt x="119388" y="0"/>
                  <a:pt x="119600" y="1567"/>
                  <a:pt x="119750" y="4478"/>
                </a:cubicBezTo>
                <a:cubicBezTo>
                  <a:pt x="119913" y="7164"/>
                  <a:pt x="120000" y="11194"/>
                  <a:pt x="120000" y="15000"/>
                </a:cubicBezTo>
                <a:lnTo>
                  <a:pt x="120000" y="120000"/>
                </a:lnTo>
                <a:lnTo>
                  <a:pt x="0" y="120000"/>
                </a:lnTo>
                <a:lnTo>
                  <a:pt x="0" y="15000"/>
                </a:lnTo>
                <a:cubicBezTo>
                  <a:pt x="0" y="6716"/>
                  <a:pt x="375" y="0"/>
                  <a:pt x="836" y="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3343275" y="6429375"/>
            <a:ext cx="2457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77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6945630" y="0"/>
            <a:ext cx="2208000" cy="61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5807" y="120000"/>
                </a:moveTo>
                <a:lnTo>
                  <a:pt x="4193" y="120000"/>
                </a:lnTo>
                <a:cubicBezTo>
                  <a:pt x="3106" y="120000"/>
                  <a:pt x="2019" y="118512"/>
                  <a:pt x="1242" y="115721"/>
                </a:cubicBezTo>
                <a:cubicBezTo>
                  <a:pt x="466" y="112930"/>
                  <a:pt x="0" y="109023"/>
                  <a:pt x="0" y="105116"/>
                </a:cubicBezTo>
                <a:lnTo>
                  <a:pt x="0" y="0"/>
                </a:lnTo>
                <a:lnTo>
                  <a:pt x="120000" y="0"/>
                </a:lnTo>
                <a:lnTo>
                  <a:pt x="120000" y="105116"/>
                </a:lnTo>
                <a:cubicBezTo>
                  <a:pt x="120000" y="113302"/>
                  <a:pt x="118136" y="120000"/>
                  <a:pt x="115807" y="12000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0" y="0"/>
            <a:ext cx="9152700" cy="319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74" y="120000"/>
                </a:moveTo>
                <a:lnTo>
                  <a:pt x="119413" y="120000"/>
                </a:lnTo>
                <a:cubicBezTo>
                  <a:pt x="119575" y="120000"/>
                  <a:pt x="119725" y="118209"/>
                  <a:pt x="119825" y="114627"/>
                </a:cubicBezTo>
                <a:cubicBezTo>
                  <a:pt x="119938" y="111403"/>
                  <a:pt x="120000" y="107104"/>
                  <a:pt x="120000" y="102448"/>
                </a:cubicBezTo>
                <a:lnTo>
                  <a:pt x="120000" y="0"/>
                </a:lnTo>
                <a:lnTo>
                  <a:pt x="0" y="0"/>
                </a:lnTo>
                <a:lnTo>
                  <a:pt x="0" y="102448"/>
                </a:lnTo>
                <a:cubicBezTo>
                  <a:pt x="0" y="111761"/>
                  <a:pt x="262" y="120000"/>
                  <a:pt x="574" y="12000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6943725" y="247650"/>
            <a:ext cx="22002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77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66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77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381000" y="5905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B5394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Literature Review</a:t>
            </a:r>
            <a:endParaRPr sz="2400" b="1">
              <a:solidFill>
                <a:srgbClr val="0B5394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grpSp>
        <p:nvGrpSpPr>
          <p:cNvPr id="219" name="Google Shape;219;p19"/>
          <p:cNvGrpSpPr/>
          <p:nvPr/>
        </p:nvGrpSpPr>
        <p:grpSpPr>
          <a:xfrm>
            <a:off x="381000" y="1285875"/>
            <a:ext cx="8382000" cy="381000"/>
            <a:chOff x="0" y="0"/>
            <a:chExt cx="8382000" cy="381000"/>
          </a:xfrm>
        </p:grpSpPr>
        <p:sp>
          <p:nvSpPr>
            <p:cNvPr id="220" name="Google Shape;220;p19"/>
            <p:cNvSpPr/>
            <p:nvPr/>
          </p:nvSpPr>
          <p:spPr>
            <a:xfrm>
              <a:off x="0" y="0"/>
              <a:ext cx="8382000" cy="381000"/>
            </a:xfrm>
            <a:prstGeom prst="roundRect">
              <a:avLst>
                <a:gd name="adj" fmla="val 10000"/>
              </a:avLst>
            </a:prstGeom>
            <a:solidFill>
              <a:srgbClr val="F3F6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1" name="Google Shape;221;p19"/>
            <p:cNvCxnSpPr/>
            <p:nvPr/>
          </p:nvCxnSpPr>
          <p:spPr>
            <a:xfrm>
              <a:off x="0" y="3810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0B5394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2" name="Google Shape;222;p19"/>
            <p:cNvSpPr txBox="1"/>
            <p:nvPr/>
          </p:nvSpPr>
          <p:spPr>
            <a:xfrm>
              <a:off x="142875" y="0"/>
              <a:ext cx="1238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Author(s) (Year)</a:t>
              </a:r>
              <a:endParaRPr sz="11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9"/>
            <p:cNvSpPr txBox="1"/>
            <p:nvPr/>
          </p:nvSpPr>
          <p:spPr>
            <a:xfrm>
              <a:off x="1524000" y="0"/>
              <a:ext cx="1238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Venue / Journal</a:t>
              </a:r>
              <a:endParaRPr sz="11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9"/>
            <p:cNvSpPr txBox="1"/>
            <p:nvPr/>
          </p:nvSpPr>
          <p:spPr>
            <a:xfrm>
              <a:off x="2905125" y="0"/>
              <a:ext cx="3238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Purpose / Contribution</a:t>
              </a:r>
              <a:endParaRPr sz="11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6286500" y="0"/>
              <a:ext cx="1952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Research Gap / Limitation</a:t>
              </a:r>
              <a:endParaRPr sz="11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>
            <a:off x="381000" y="1762125"/>
            <a:ext cx="8382000" cy="685800"/>
            <a:chOff x="0" y="0"/>
            <a:chExt cx="8382000" cy="685800"/>
          </a:xfrm>
        </p:grpSpPr>
        <p:sp>
          <p:nvSpPr>
            <p:cNvPr id="227" name="Google Shape;227;p19"/>
            <p:cNvSpPr/>
            <p:nvPr/>
          </p:nvSpPr>
          <p:spPr>
            <a:xfrm>
              <a:off x="0" y="0"/>
              <a:ext cx="8382000" cy="68580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28" name="Google Shape;228;p19"/>
            <p:cNvCxnSpPr/>
            <p:nvPr/>
          </p:nvCxnSpPr>
          <p:spPr>
            <a:xfrm>
              <a:off x="0" y="6858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29" name="Google Shape;229;p19"/>
            <p:cNvSpPr txBox="1"/>
            <p:nvPr/>
          </p:nvSpPr>
          <p:spPr>
            <a:xfrm>
              <a:off x="142875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Gao et al.</a:t>
              </a:r>
              <a:endParaRPr sz="10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2023</a:t>
              </a:r>
              <a:endParaRPr sz="900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9"/>
            <p:cNvSpPr txBox="1"/>
            <p:nvPr/>
          </p:nvSpPr>
          <p:spPr>
            <a:xfrm>
              <a:off x="15240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arXiv (Survey)</a:t>
              </a:r>
              <a:endParaRPr sz="11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9"/>
            <p:cNvSpPr txBox="1"/>
            <p:nvPr/>
          </p:nvSpPr>
          <p:spPr>
            <a:xfrm>
              <a:off x="2905125" y="0"/>
              <a:ext cx="3238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Surveyed and taxonomized RAG approaches (Naive/Advanced/Modular).</a:t>
              </a:r>
              <a:endParaRPr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9"/>
            <p:cNvSpPr txBox="1"/>
            <p:nvPr/>
          </p:nvSpPr>
          <p:spPr>
            <a:xfrm>
              <a:off x="6286500" y="0"/>
              <a:ext cx="19527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Field moves fast — survey ages quickly.</a:t>
              </a:r>
              <a:endParaRPr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" name="Google Shape;233;p19"/>
          <p:cNvGrpSpPr/>
          <p:nvPr/>
        </p:nvGrpSpPr>
        <p:grpSpPr>
          <a:xfrm>
            <a:off x="381000" y="2495550"/>
            <a:ext cx="8382000" cy="685800"/>
            <a:chOff x="0" y="0"/>
            <a:chExt cx="8382000" cy="685800"/>
          </a:xfrm>
        </p:grpSpPr>
        <p:sp>
          <p:nvSpPr>
            <p:cNvPr id="234" name="Google Shape;234;p19"/>
            <p:cNvSpPr/>
            <p:nvPr/>
          </p:nvSpPr>
          <p:spPr>
            <a:xfrm>
              <a:off x="0" y="0"/>
              <a:ext cx="8382000" cy="68580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35" name="Google Shape;235;p19"/>
            <p:cNvCxnSpPr/>
            <p:nvPr/>
          </p:nvCxnSpPr>
          <p:spPr>
            <a:xfrm>
              <a:off x="0" y="6858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36" name="Google Shape;236;p19"/>
            <p:cNvSpPr txBox="1"/>
            <p:nvPr/>
          </p:nvSpPr>
          <p:spPr>
            <a:xfrm>
              <a:off x="142875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Maharana et al.</a:t>
              </a:r>
              <a:endParaRPr sz="10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2024</a:t>
              </a:r>
              <a:endParaRPr sz="900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9"/>
            <p:cNvSpPr txBox="1"/>
            <p:nvPr/>
          </p:nvSpPr>
          <p:spPr>
            <a:xfrm>
              <a:off x="15240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ACL</a:t>
              </a:r>
              <a:endParaRPr sz="11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19"/>
            <p:cNvSpPr txBox="1"/>
            <p:nvPr/>
          </p:nvSpPr>
          <p:spPr>
            <a:xfrm>
              <a:off x="2905125" y="0"/>
              <a:ext cx="3238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Introduced LoCoMo benchmark for very long-term conversational memory.</a:t>
              </a:r>
              <a:endParaRPr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19"/>
            <p:cNvSpPr txBox="1"/>
            <p:nvPr/>
          </p:nvSpPr>
          <p:spPr>
            <a:xfrm>
              <a:off x="6286500" y="0"/>
              <a:ext cx="19527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Synthetic-persona based; limited real-world variability.</a:t>
              </a:r>
              <a:endParaRPr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p19"/>
          <p:cNvGrpSpPr/>
          <p:nvPr/>
        </p:nvGrpSpPr>
        <p:grpSpPr>
          <a:xfrm>
            <a:off x="381000" y="3228975"/>
            <a:ext cx="8382000" cy="685800"/>
            <a:chOff x="0" y="0"/>
            <a:chExt cx="8382000" cy="685800"/>
          </a:xfrm>
        </p:grpSpPr>
        <p:sp>
          <p:nvSpPr>
            <p:cNvPr id="241" name="Google Shape;241;p19"/>
            <p:cNvSpPr/>
            <p:nvPr/>
          </p:nvSpPr>
          <p:spPr>
            <a:xfrm>
              <a:off x="0" y="0"/>
              <a:ext cx="8382000" cy="68580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2" name="Google Shape;242;p19"/>
            <p:cNvCxnSpPr/>
            <p:nvPr/>
          </p:nvCxnSpPr>
          <p:spPr>
            <a:xfrm>
              <a:off x="0" y="6858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3" name="Google Shape;243;p19"/>
            <p:cNvSpPr txBox="1"/>
            <p:nvPr/>
          </p:nvSpPr>
          <p:spPr>
            <a:xfrm>
              <a:off x="142875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Wu et al.</a:t>
              </a:r>
              <a:endParaRPr sz="10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2025</a:t>
              </a:r>
              <a:endParaRPr sz="900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9"/>
            <p:cNvSpPr txBox="1"/>
            <p:nvPr/>
          </p:nvSpPr>
          <p:spPr>
            <a:xfrm>
              <a:off x="15240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ICLR</a:t>
              </a:r>
              <a:endParaRPr sz="11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9"/>
            <p:cNvSpPr txBox="1"/>
            <p:nvPr/>
          </p:nvSpPr>
          <p:spPr>
            <a:xfrm>
              <a:off x="2905125" y="0"/>
              <a:ext cx="3238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Introduced LongMemEval benchmark for long-term interactive memory.</a:t>
              </a:r>
              <a:endParaRPr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9"/>
            <p:cNvSpPr txBox="1"/>
            <p:nvPr/>
          </p:nvSpPr>
          <p:spPr>
            <a:xfrm>
              <a:off x="6286500" y="0"/>
              <a:ext cx="19527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Limited coverage of multi-agent memory scenarios.</a:t>
              </a:r>
              <a:endParaRPr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" name="Google Shape;247;p19"/>
          <p:cNvGrpSpPr/>
          <p:nvPr/>
        </p:nvGrpSpPr>
        <p:grpSpPr>
          <a:xfrm>
            <a:off x="381000" y="3962400"/>
            <a:ext cx="8382000" cy="685800"/>
            <a:chOff x="0" y="0"/>
            <a:chExt cx="8382000" cy="685800"/>
          </a:xfrm>
        </p:grpSpPr>
        <p:sp>
          <p:nvSpPr>
            <p:cNvPr id="248" name="Google Shape;248;p19"/>
            <p:cNvSpPr/>
            <p:nvPr/>
          </p:nvSpPr>
          <p:spPr>
            <a:xfrm>
              <a:off x="0" y="0"/>
              <a:ext cx="8382000" cy="68580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49" name="Google Shape;249;p19"/>
            <p:cNvCxnSpPr/>
            <p:nvPr/>
          </p:nvCxnSpPr>
          <p:spPr>
            <a:xfrm>
              <a:off x="0" y="6858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0" name="Google Shape;250;p19"/>
            <p:cNvSpPr txBox="1"/>
            <p:nvPr/>
          </p:nvSpPr>
          <p:spPr>
            <a:xfrm>
              <a:off x="142875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Xu et al.</a:t>
              </a:r>
              <a:endParaRPr sz="10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2025</a:t>
              </a:r>
              <a:endParaRPr sz="900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19"/>
            <p:cNvSpPr txBox="1"/>
            <p:nvPr/>
          </p:nvSpPr>
          <p:spPr>
            <a:xfrm>
              <a:off x="15240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arXiv (Preprint)</a:t>
              </a:r>
              <a:endParaRPr sz="11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9"/>
            <p:cNvSpPr txBox="1"/>
            <p:nvPr/>
          </p:nvSpPr>
          <p:spPr>
            <a:xfrm>
              <a:off x="2905125" y="0"/>
              <a:ext cx="3238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Proposed A-MEM, a self-organizing note-based agent memory.</a:t>
              </a:r>
              <a:endParaRPr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9"/>
            <p:cNvSpPr txBox="1"/>
            <p:nvPr/>
          </p:nvSpPr>
          <p:spPr>
            <a:xfrm>
              <a:off x="6286500" y="0"/>
              <a:ext cx="19527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Link-generation overhead grows with memory size.</a:t>
              </a:r>
              <a:endParaRPr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" name="Google Shape;254;p19"/>
          <p:cNvGrpSpPr/>
          <p:nvPr/>
        </p:nvGrpSpPr>
        <p:grpSpPr>
          <a:xfrm>
            <a:off x="381000" y="4695825"/>
            <a:ext cx="8382000" cy="685800"/>
            <a:chOff x="0" y="0"/>
            <a:chExt cx="8382000" cy="685800"/>
          </a:xfrm>
        </p:grpSpPr>
        <p:sp>
          <p:nvSpPr>
            <p:cNvPr id="255" name="Google Shape;255;p19"/>
            <p:cNvSpPr/>
            <p:nvPr/>
          </p:nvSpPr>
          <p:spPr>
            <a:xfrm>
              <a:off x="0" y="0"/>
              <a:ext cx="8382000" cy="68580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56" name="Google Shape;256;p19"/>
            <p:cNvCxnSpPr/>
            <p:nvPr/>
          </p:nvCxnSpPr>
          <p:spPr>
            <a:xfrm>
              <a:off x="0" y="6858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7" name="Google Shape;257;p19"/>
            <p:cNvSpPr txBox="1"/>
            <p:nvPr/>
          </p:nvSpPr>
          <p:spPr>
            <a:xfrm>
              <a:off x="142875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Kang et al.</a:t>
              </a:r>
              <a:endParaRPr sz="10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2025</a:t>
              </a:r>
              <a:endParaRPr sz="900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9"/>
            <p:cNvSpPr txBox="1"/>
            <p:nvPr/>
          </p:nvSpPr>
          <p:spPr>
            <a:xfrm>
              <a:off x="15240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EMNLP</a:t>
              </a:r>
              <a:endParaRPr sz="11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9"/>
            <p:cNvSpPr txBox="1"/>
            <p:nvPr/>
          </p:nvSpPr>
          <p:spPr>
            <a:xfrm>
              <a:off x="2905125" y="0"/>
              <a:ext cx="3238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Proposed Memory OS — a three-tier (short/medium/long-term) memory architecture.</a:t>
              </a:r>
              <a:endParaRPr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19"/>
            <p:cNvSpPr txBox="1"/>
            <p:nvPr/>
          </p:nvSpPr>
          <p:spPr>
            <a:xfrm>
              <a:off x="6286500" y="0"/>
              <a:ext cx="19527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Tier-transition policies need domain-specific tuning.</a:t>
              </a:r>
              <a:endParaRPr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" name="Google Shape;261;p19"/>
          <p:cNvGrpSpPr/>
          <p:nvPr/>
        </p:nvGrpSpPr>
        <p:grpSpPr>
          <a:xfrm>
            <a:off x="381000" y="5429250"/>
            <a:ext cx="8382000" cy="685800"/>
            <a:chOff x="0" y="0"/>
            <a:chExt cx="8382000" cy="685800"/>
          </a:xfrm>
        </p:grpSpPr>
        <p:sp>
          <p:nvSpPr>
            <p:cNvPr id="262" name="Google Shape;262;p19"/>
            <p:cNvSpPr/>
            <p:nvPr/>
          </p:nvSpPr>
          <p:spPr>
            <a:xfrm>
              <a:off x="0" y="0"/>
              <a:ext cx="8382000" cy="685800"/>
            </a:xfrm>
            <a:prstGeom prst="roundRect">
              <a:avLst>
                <a:gd name="adj" fmla="val 5555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63" name="Google Shape;263;p19"/>
            <p:cNvCxnSpPr/>
            <p:nvPr/>
          </p:nvCxnSpPr>
          <p:spPr>
            <a:xfrm>
              <a:off x="0" y="685800"/>
              <a:ext cx="8382000" cy="0"/>
            </a:xfrm>
            <a:prstGeom prst="straightConnector1">
              <a:avLst/>
            </a:prstGeom>
            <a:solidFill>
              <a:srgbClr val="FFFFFF"/>
            </a:solidFill>
            <a:ln w="9525" cap="flat" cmpd="sng">
              <a:solidFill>
                <a:srgbClr val="CBD5E1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4" name="Google Shape;264;p19"/>
            <p:cNvSpPr txBox="1"/>
            <p:nvPr/>
          </p:nvSpPr>
          <p:spPr>
            <a:xfrm>
              <a:off x="142875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1">
                  <a:solidFill>
                    <a:srgbClr val="111111"/>
                  </a:solidFill>
                  <a:latin typeface="Arial"/>
                  <a:ea typeface="Arial"/>
                  <a:cs typeface="Arial"/>
                  <a:sym typeface="Arial"/>
                </a:rPr>
                <a:t>Zhang et al.</a:t>
              </a:r>
              <a:endParaRPr sz="1000" b="1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900" b="1">
                  <a:solidFill>
                    <a:srgbClr val="666666"/>
                  </a:solidFill>
                  <a:latin typeface="Arial"/>
                  <a:ea typeface="Arial"/>
                  <a:cs typeface="Arial"/>
                  <a:sym typeface="Arial"/>
                </a:rPr>
                <a:t>2024/2025</a:t>
              </a:r>
              <a:endParaRPr sz="900" b="1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9"/>
            <p:cNvSpPr txBox="1"/>
            <p:nvPr/>
          </p:nvSpPr>
          <p:spPr>
            <a:xfrm>
              <a:off x="1524000" y="0"/>
              <a:ext cx="12384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ACM TOIS</a:t>
              </a:r>
              <a:endParaRPr sz="110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9"/>
            <p:cNvSpPr txBox="1"/>
            <p:nvPr/>
          </p:nvSpPr>
          <p:spPr>
            <a:xfrm>
              <a:off x="2905125" y="0"/>
              <a:ext cx="32385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Comprehensive survey unifying LLM agent memory taxonomy.</a:t>
              </a:r>
              <a:endParaRPr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9"/>
            <p:cNvSpPr txBox="1"/>
            <p:nvPr/>
          </p:nvSpPr>
          <p:spPr>
            <a:xfrm>
              <a:off x="6286500" y="0"/>
              <a:ext cx="1952700" cy="68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Notes redundancy, staleness, poor memory–context integration.</a:t>
              </a:r>
              <a:endParaRPr sz="10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0" y="6347460"/>
            <a:ext cx="9155400" cy="51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687" y="0"/>
                </a:moveTo>
                <a:lnTo>
                  <a:pt x="119164" y="0"/>
                </a:lnTo>
                <a:cubicBezTo>
                  <a:pt x="119388" y="0"/>
                  <a:pt x="119600" y="1567"/>
                  <a:pt x="119750" y="4478"/>
                </a:cubicBezTo>
                <a:cubicBezTo>
                  <a:pt x="119913" y="7164"/>
                  <a:pt x="120000" y="10970"/>
                  <a:pt x="120000" y="15000"/>
                </a:cubicBezTo>
                <a:lnTo>
                  <a:pt x="120000" y="120000"/>
                </a:lnTo>
                <a:lnTo>
                  <a:pt x="0" y="120000"/>
                </a:lnTo>
                <a:lnTo>
                  <a:pt x="0" y="15000"/>
                </a:lnTo>
                <a:cubicBezTo>
                  <a:pt x="0" y="6716"/>
                  <a:pt x="375" y="0"/>
                  <a:pt x="836" y="0"/>
                </a:cubicBezTo>
                <a:close/>
              </a:path>
            </a:pathLst>
          </a:cu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" name="Google Shape;274;p20"/>
          <p:cNvGrpSpPr/>
          <p:nvPr/>
        </p:nvGrpSpPr>
        <p:grpSpPr>
          <a:xfrm>
            <a:off x="3343275" y="6431280"/>
            <a:ext cx="2457600" cy="289500"/>
            <a:chOff x="0" y="0"/>
            <a:chExt cx="2457600" cy="289500"/>
          </a:xfrm>
        </p:grpSpPr>
        <p:sp>
          <p:nvSpPr>
            <p:cNvPr id="275" name="Google Shape;275;p20"/>
            <p:cNvSpPr/>
            <p:nvPr/>
          </p:nvSpPr>
          <p:spPr>
            <a:xfrm>
              <a:off x="0" y="0"/>
              <a:ext cx="2457600" cy="28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0"/>
            <p:cNvSpPr txBox="1"/>
            <p:nvPr/>
          </p:nvSpPr>
          <p:spPr>
            <a:xfrm>
              <a:off x="0" y="0"/>
              <a:ext cx="2457600" cy="289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7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Excellence and Service</a:t>
              </a:r>
              <a:endParaRPr sz="77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277" name="Google Shape;277;p20"/>
          <p:cNvSpPr/>
          <p:nvPr/>
        </p:nvSpPr>
        <p:spPr>
          <a:xfrm rot="10800000">
            <a:off x="6946725" y="1201"/>
            <a:ext cx="2206800" cy="61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4195" y="0"/>
                </a:moveTo>
                <a:lnTo>
                  <a:pt x="115805" y="0"/>
                </a:lnTo>
                <a:cubicBezTo>
                  <a:pt x="116893" y="0"/>
                  <a:pt x="117980" y="1674"/>
                  <a:pt x="118757" y="4465"/>
                </a:cubicBezTo>
                <a:cubicBezTo>
                  <a:pt x="119534" y="7256"/>
                  <a:pt x="120000" y="10977"/>
                  <a:pt x="120000" y="15070"/>
                </a:cubicBezTo>
                <a:lnTo>
                  <a:pt x="120000" y="120000"/>
                </a:lnTo>
                <a:lnTo>
                  <a:pt x="0" y="120000"/>
                </a:lnTo>
                <a:lnTo>
                  <a:pt x="0" y="15070"/>
                </a:lnTo>
                <a:cubicBezTo>
                  <a:pt x="0" y="6698"/>
                  <a:pt x="1864" y="0"/>
                  <a:pt x="4195" y="0"/>
                </a:cubicBezTo>
                <a:close/>
              </a:path>
            </a:pathLst>
          </a:cu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0"/>
          <p:cNvSpPr/>
          <p:nvPr/>
        </p:nvSpPr>
        <p:spPr>
          <a:xfrm rot="10800000">
            <a:off x="-1875" y="-964"/>
            <a:ext cx="9155400" cy="36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99" y="0"/>
                </a:moveTo>
                <a:lnTo>
                  <a:pt x="119401" y="0"/>
                </a:lnTo>
                <a:cubicBezTo>
                  <a:pt x="119563" y="0"/>
                  <a:pt x="119713" y="1567"/>
                  <a:pt x="119825" y="4386"/>
                </a:cubicBezTo>
                <a:cubicBezTo>
                  <a:pt x="119938" y="7206"/>
                  <a:pt x="120000" y="10966"/>
                  <a:pt x="120000" y="15039"/>
                </a:cubicBezTo>
                <a:lnTo>
                  <a:pt x="120000" y="120000"/>
                </a:lnTo>
                <a:lnTo>
                  <a:pt x="0" y="120000"/>
                </a:lnTo>
                <a:lnTo>
                  <a:pt x="0" y="15039"/>
                </a:lnTo>
                <a:cubicBezTo>
                  <a:pt x="0" y="6580"/>
                  <a:pt x="262" y="0"/>
                  <a:pt x="599" y="0"/>
                </a:cubicBezTo>
                <a:close/>
              </a:path>
            </a:pathLst>
          </a:cu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20"/>
          <p:cNvGrpSpPr/>
          <p:nvPr/>
        </p:nvGrpSpPr>
        <p:grpSpPr>
          <a:xfrm>
            <a:off x="6945630" y="247650"/>
            <a:ext cx="2206800" cy="231600"/>
            <a:chOff x="0" y="0"/>
            <a:chExt cx="2206800" cy="231600"/>
          </a:xfrm>
        </p:grpSpPr>
        <p:sp>
          <p:nvSpPr>
            <p:cNvPr id="280" name="Google Shape;280;p20"/>
            <p:cNvSpPr/>
            <p:nvPr/>
          </p:nvSpPr>
          <p:spPr>
            <a:xfrm>
              <a:off x="0" y="0"/>
              <a:ext cx="2206800" cy="23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0"/>
            <p:cNvSpPr txBox="1"/>
            <p:nvPr/>
          </p:nvSpPr>
          <p:spPr>
            <a:xfrm>
              <a:off x="0" y="0"/>
              <a:ext cx="2206800" cy="23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7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CHRIST</a:t>
              </a:r>
              <a:br>
                <a:rPr lang="en-US" sz="77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</a:br>
              <a:r>
                <a:rPr lang="en-US" sz="660" b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Deemed to be University</a:t>
              </a:r>
              <a:endParaRPr sz="77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grpSp>
        <p:nvGrpSpPr>
          <p:cNvPr id="282" name="Google Shape;282;p20"/>
          <p:cNvGrpSpPr/>
          <p:nvPr/>
        </p:nvGrpSpPr>
        <p:grpSpPr>
          <a:xfrm>
            <a:off x="381000" y="590550"/>
            <a:ext cx="8382000" cy="762000"/>
            <a:chOff x="0" y="0"/>
            <a:chExt cx="8382000" cy="762000"/>
          </a:xfrm>
        </p:grpSpPr>
        <p:sp>
          <p:nvSpPr>
            <p:cNvPr id="283" name="Google Shape;283;p20"/>
            <p:cNvSpPr/>
            <p:nvPr/>
          </p:nvSpPr>
          <p:spPr>
            <a:xfrm>
              <a:off x="0" y="0"/>
              <a:ext cx="838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0"/>
            <p:cNvSpPr txBox="1"/>
            <p:nvPr/>
          </p:nvSpPr>
          <p:spPr>
            <a:xfrm>
              <a:off x="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>
                  <a:solidFill>
                    <a:srgbClr val="000000"/>
                  </a:solidFill>
                  <a:latin typeface="Archivo Narrow"/>
                  <a:ea typeface="Archivo Narrow"/>
                  <a:cs typeface="Archivo Narrow"/>
                  <a:sym typeface="Archivo Narrow"/>
                </a:rPr>
                <a:t>Challenges, Gaps, and Limitations</a:t>
              </a:r>
              <a:endParaRPr sz="2400" b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endParaRPr>
            </a:p>
          </p:txBody>
        </p:sp>
      </p:grpSp>
      <p:grpSp>
        <p:nvGrpSpPr>
          <p:cNvPr id="285" name="Google Shape;285;p20"/>
          <p:cNvGrpSpPr/>
          <p:nvPr/>
        </p:nvGrpSpPr>
        <p:grpSpPr>
          <a:xfrm>
            <a:off x="476250" y="1428750"/>
            <a:ext cx="3905400" cy="1285800"/>
            <a:chOff x="0" y="0"/>
            <a:chExt cx="3905400" cy="1285800"/>
          </a:xfrm>
        </p:grpSpPr>
        <p:sp>
          <p:nvSpPr>
            <p:cNvPr id="286" name="Google Shape;286;p20"/>
            <p:cNvSpPr/>
            <p:nvPr/>
          </p:nvSpPr>
          <p:spPr>
            <a:xfrm>
              <a:off x="0" y="0"/>
              <a:ext cx="3905400" cy="1285800"/>
            </a:xfrm>
            <a:prstGeom prst="roundRect">
              <a:avLst>
                <a:gd name="adj" fmla="val 5925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0"/>
            <p:cNvSpPr txBox="1"/>
            <p:nvPr/>
          </p:nvSpPr>
          <p:spPr>
            <a:xfrm>
              <a:off x="190500" y="142875"/>
              <a:ext cx="3524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Limited Long-Term Memory</a:t>
              </a:r>
              <a:endParaRPr sz="13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Most systems degrade sharply beyond a few sessions, struggling to maintain true operational consistency over extended interaction periods.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8" name="Google Shape;288;p20"/>
          <p:cNvGrpSpPr/>
          <p:nvPr/>
        </p:nvGrpSpPr>
        <p:grpSpPr>
          <a:xfrm>
            <a:off x="4762500" y="1428750"/>
            <a:ext cx="3905400" cy="1285800"/>
            <a:chOff x="0" y="0"/>
            <a:chExt cx="3905400" cy="1285800"/>
          </a:xfrm>
        </p:grpSpPr>
        <p:sp>
          <p:nvSpPr>
            <p:cNvPr id="289" name="Google Shape;289;p20"/>
            <p:cNvSpPr/>
            <p:nvPr/>
          </p:nvSpPr>
          <p:spPr>
            <a:xfrm>
              <a:off x="0" y="0"/>
              <a:ext cx="3905400" cy="1285800"/>
            </a:xfrm>
            <a:prstGeom prst="roundRect">
              <a:avLst>
                <a:gd name="adj" fmla="val 5925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0"/>
            <p:cNvSpPr txBox="1"/>
            <p:nvPr/>
          </p:nvSpPr>
          <p:spPr>
            <a:xfrm>
              <a:off x="190500" y="142875"/>
              <a:ext cx="3524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Context Window Overflow</a:t>
              </a:r>
              <a:endParaRPr sz="13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Conversations and multi-source documents routinely exceed even the largest context windows, forcing critical early information to be truncated.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1" name="Google Shape;291;p20"/>
          <p:cNvGrpSpPr/>
          <p:nvPr/>
        </p:nvGrpSpPr>
        <p:grpSpPr>
          <a:xfrm>
            <a:off x="476250" y="2905125"/>
            <a:ext cx="3905400" cy="1285800"/>
            <a:chOff x="0" y="0"/>
            <a:chExt cx="3905400" cy="1285800"/>
          </a:xfrm>
        </p:grpSpPr>
        <p:sp>
          <p:nvSpPr>
            <p:cNvPr id="292" name="Google Shape;292;p20"/>
            <p:cNvSpPr/>
            <p:nvPr/>
          </p:nvSpPr>
          <p:spPr>
            <a:xfrm>
              <a:off x="0" y="0"/>
              <a:ext cx="3905400" cy="1285800"/>
            </a:xfrm>
            <a:prstGeom prst="roundRect">
              <a:avLst>
                <a:gd name="adj" fmla="val 5925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0"/>
            <p:cNvSpPr txBox="1"/>
            <p:nvPr/>
          </p:nvSpPr>
          <p:spPr>
            <a:xfrm>
              <a:off x="190500" y="142875"/>
              <a:ext cx="3524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Fabricated Answers (Hallucination)</a:t>
              </a:r>
              <a:endParaRPr sz="13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Irrelevant, outdated, or poorly retrieved context injected into prompts directly increases the rate of fabricated or untruthful model answers.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4" name="Google Shape;294;p20"/>
          <p:cNvGrpSpPr/>
          <p:nvPr/>
        </p:nvGrpSpPr>
        <p:grpSpPr>
          <a:xfrm>
            <a:off x="4762500" y="2905125"/>
            <a:ext cx="3905400" cy="1285800"/>
            <a:chOff x="0" y="0"/>
            <a:chExt cx="3905400" cy="1285800"/>
          </a:xfrm>
        </p:grpSpPr>
        <p:sp>
          <p:nvSpPr>
            <p:cNvPr id="295" name="Google Shape;295;p20"/>
            <p:cNvSpPr/>
            <p:nvPr/>
          </p:nvSpPr>
          <p:spPr>
            <a:xfrm>
              <a:off x="0" y="0"/>
              <a:ext cx="3905400" cy="1285800"/>
            </a:xfrm>
            <a:prstGeom prst="roundRect">
              <a:avLst>
                <a:gd name="adj" fmla="val 5925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0"/>
            <p:cNvSpPr txBox="1"/>
            <p:nvPr/>
          </p:nvSpPr>
          <p:spPr>
            <a:xfrm>
              <a:off x="190500" y="142875"/>
              <a:ext cx="3524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High Computational &amp; API Cost</a:t>
              </a:r>
              <a:endParaRPr sz="13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Attention mechanisms scale aggressively with sequence length. Managing massive context windows remains highly expensive for production applications.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" name="Google Shape;297;p20"/>
          <p:cNvGrpSpPr/>
          <p:nvPr/>
        </p:nvGrpSpPr>
        <p:grpSpPr>
          <a:xfrm>
            <a:off x="476250" y="4381500"/>
            <a:ext cx="3905400" cy="1285800"/>
            <a:chOff x="0" y="0"/>
            <a:chExt cx="3905400" cy="1285800"/>
          </a:xfrm>
        </p:grpSpPr>
        <p:sp>
          <p:nvSpPr>
            <p:cNvPr id="298" name="Google Shape;298;p20"/>
            <p:cNvSpPr/>
            <p:nvPr/>
          </p:nvSpPr>
          <p:spPr>
            <a:xfrm>
              <a:off x="0" y="0"/>
              <a:ext cx="3905400" cy="1285800"/>
            </a:xfrm>
            <a:prstGeom prst="roundRect">
              <a:avLst>
                <a:gd name="adj" fmla="val 5925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0"/>
            <p:cNvSpPr txBox="1"/>
            <p:nvPr/>
          </p:nvSpPr>
          <p:spPr>
            <a:xfrm>
              <a:off x="190500" y="142875"/>
              <a:ext cx="3524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Poor &amp; Static Personalization</a:t>
              </a:r>
              <a:endParaRPr sz="13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Rigid, static memory schemas fail to naturally adapt, reorganize, or evolve alongside changing user preferences and long-term habits.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0" name="Google Shape;300;p20"/>
          <p:cNvGrpSpPr/>
          <p:nvPr/>
        </p:nvGrpSpPr>
        <p:grpSpPr>
          <a:xfrm>
            <a:off x="4762500" y="4381500"/>
            <a:ext cx="3905400" cy="1285800"/>
            <a:chOff x="0" y="0"/>
            <a:chExt cx="3905400" cy="1285800"/>
          </a:xfrm>
        </p:grpSpPr>
        <p:sp>
          <p:nvSpPr>
            <p:cNvPr id="301" name="Google Shape;301;p20"/>
            <p:cNvSpPr/>
            <p:nvPr/>
          </p:nvSpPr>
          <p:spPr>
            <a:xfrm>
              <a:off x="0" y="0"/>
              <a:ext cx="3905400" cy="1285800"/>
            </a:xfrm>
            <a:prstGeom prst="roundRect">
              <a:avLst>
                <a:gd name="adj" fmla="val 5925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0"/>
            <p:cNvSpPr txBox="1"/>
            <p:nvPr/>
          </p:nvSpPr>
          <p:spPr>
            <a:xfrm>
              <a:off x="190500" y="142875"/>
              <a:ext cx="3524400" cy="10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Inconsistency, Latency &amp; Scaling</a:t>
              </a:r>
              <a:endParaRPr sz="13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Vector search and re-ranking add latency. Stored data constantly accumulates without systematic pruning, causing severe memory inconsistencies.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1"/>
          <p:cNvSpPr/>
          <p:nvPr/>
        </p:nvSpPr>
        <p:spPr>
          <a:xfrm>
            <a:off x="-11430" y="6347450"/>
            <a:ext cx="9166800" cy="51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835" y="0"/>
                </a:moveTo>
                <a:lnTo>
                  <a:pt x="119165" y="0"/>
                </a:lnTo>
                <a:cubicBezTo>
                  <a:pt x="119389" y="0"/>
                  <a:pt x="119601" y="1569"/>
                  <a:pt x="119751" y="4484"/>
                </a:cubicBezTo>
                <a:cubicBezTo>
                  <a:pt x="119913" y="7168"/>
                  <a:pt x="120000" y="11199"/>
                  <a:pt x="120000" y="15001"/>
                </a:cubicBezTo>
                <a:lnTo>
                  <a:pt x="120000" y="120000"/>
                </a:lnTo>
                <a:lnTo>
                  <a:pt x="0" y="120000"/>
                </a:lnTo>
                <a:lnTo>
                  <a:pt x="0" y="15001"/>
                </a:lnTo>
                <a:cubicBezTo>
                  <a:pt x="0" y="6718"/>
                  <a:pt x="374" y="0"/>
                  <a:pt x="835" y="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3343275" y="6429375"/>
            <a:ext cx="2457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770" b="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6937048" y="0"/>
            <a:ext cx="2206800" cy="61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5858" y="120000"/>
                </a:moveTo>
                <a:lnTo>
                  <a:pt x="4195" y="120000"/>
                </a:lnTo>
                <a:cubicBezTo>
                  <a:pt x="3108" y="120000"/>
                  <a:pt x="2020" y="118510"/>
                  <a:pt x="1244" y="115723"/>
                </a:cubicBezTo>
                <a:cubicBezTo>
                  <a:pt x="467" y="112929"/>
                  <a:pt x="0" y="109024"/>
                  <a:pt x="0" y="105117"/>
                </a:cubicBezTo>
                <a:lnTo>
                  <a:pt x="0" y="0"/>
                </a:lnTo>
                <a:lnTo>
                  <a:pt x="120000" y="0"/>
                </a:lnTo>
                <a:lnTo>
                  <a:pt x="120000" y="105117"/>
                </a:lnTo>
                <a:cubicBezTo>
                  <a:pt x="120000" y="113301"/>
                  <a:pt x="118136" y="120000"/>
                  <a:pt x="115858" y="12000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1"/>
          <p:cNvSpPr/>
          <p:nvPr/>
        </p:nvSpPr>
        <p:spPr>
          <a:xfrm>
            <a:off x="0" y="0"/>
            <a:ext cx="9153600" cy="4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74" y="0"/>
                </a:moveTo>
                <a:lnTo>
                  <a:pt x="119401" y="0"/>
                </a:lnTo>
                <a:cubicBezTo>
                  <a:pt x="119563" y="0"/>
                  <a:pt x="119713" y="1393"/>
                  <a:pt x="119825" y="3905"/>
                </a:cubicBezTo>
                <a:cubicBezTo>
                  <a:pt x="119938" y="6417"/>
                  <a:pt x="120000" y="9766"/>
                  <a:pt x="120000" y="13392"/>
                </a:cubicBezTo>
                <a:lnTo>
                  <a:pt x="120000" y="120000"/>
                </a:lnTo>
                <a:lnTo>
                  <a:pt x="0" y="120000"/>
                </a:lnTo>
                <a:lnTo>
                  <a:pt x="0" y="13392"/>
                </a:lnTo>
                <a:cubicBezTo>
                  <a:pt x="0" y="5862"/>
                  <a:pt x="262" y="0"/>
                  <a:pt x="574" y="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6943725" y="247650"/>
            <a:ext cx="22002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77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66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770" b="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381000" y="5905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Objectives</a:t>
            </a:r>
            <a:endParaRPr sz="2400" b="1">
              <a:solidFill>
                <a:srgbClr val="000000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grpSp>
        <p:nvGrpSpPr>
          <p:cNvPr id="314" name="Google Shape;314;p21"/>
          <p:cNvGrpSpPr/>
          <p:nvPr/>
        </p:nvGrpSpPr>
        <p:grpSpPr>
          <a:xfrm>
            <a:off x="476250" y="1333500"/>
            <a:ext cx="3905400" cy="1428900"/>
            <a:chOff x="0" y="0"/>
            <a:chExt cx="3905400" cy="1428900"/>
          </a:xfrm>
        </p:grpSpPr>
        <p:sp>
          <p:nvSpPr>
            <p:cNvPr id="315" name="Google Shape;315;p21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name="adj" fmla="val 5333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1"/>
            <p:cNvSpPr txBox="1"/>
            <p:nvPr/>
          </p:nvSpPr>
          <p:spPr>
            <a:xfrm>
              <a:off x="190500" y="142875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6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136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2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Unified Framework</a:t>
              </a:r>
              <a:endParaRPr sz="102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2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To design a unified memory-context management framework combining short-term buffer memory, long-term vector-based memory, and adaptive context selection.</a:t>
              </a:r>
              <a:endParaRPr sz="102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7" name="Google Shape;317;p21"/>
          <p:cNvGrpSpPr/>
          <p:nvPr/>
        </p:nvGrpSpPr>
        <p:grpSpPr>
          <a:xfrm>
            <a:off x="4762500" y="1333500"/>
            <a:ext cx="3905400" cy="1428900"/>
            <a:chOff x="0" y="0"/>
            <a:chExt cx="3905400" cy="1428900"/>
          </a:xfrm>
        </p:grpSpPr>
        <p:sp>
          <p:nvSpPr>
            <p:cNvPr id="318" name="Google Shape;318;p21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name="adj" fmla="val 5333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1"/>
            <p:cNvSpPr txBox="1"/>
            <p:nvPr/>
          </p:nvSpPr>
          <p:spPr>
            <a:xfrm>
              <a:off x="190500" y="142875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6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sz="136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2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Hybrid Strategy</a:t>
              </a:r>
              <a:endParaRPr sz="102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2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To implement and benchmark a sliding-window + summarization hybrid strategy for reducing token usage without significant accuracy loss.</a:t>
              </a:r>
              <a:endParaRPr sz="102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0" name="Google Shape;320;p21"/>
          <p:cNvGrpSpPr/>
          <p:nvPr/>
        </p:nvGrpSpPr>
        <p:grpSpPr>
          <a:xfrm>
            <a:off x="476250" y="2905125"/>
            <a:ext cx="3905400" cy="1428900"/>
            <a:chOff x="0" y="0"/>
            <a:chExt cx="3905400" cy="1428900"/>
          </a:xfrm>
        </p:grpSpPr>
        <p:sp>
          <p:nvSpPr>
            <p:cNvPr id="321" name="Google Shape;321;p21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name="adj" fmla="val 5333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1"/>
            <p:cNvSpPr txBox="1"/>
            <p:nvPr/>
          </p:nvSpPr>
          <p:spPr>
            <a:xfrm>
              <a:off x="190500" y="142875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6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sz="136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2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RAG Integration</a:t>
              </a:r>
              <a:endParaRPr sz="102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2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To integrate a Retrieval-Augmented Generation (RAG) pipeline and evaluate its effect on hallucination rate.</a:t>
              </a:r>
              <a:endParaRPr sz="102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3" name="Google Shape;323;p21"/>
          <p:cNvGrpSpPr/>
          <p:nvPr/>
        </p:nvGrpSpPr>
        <p:grpSpPr>
          <a:xfrm>
            <a:off x="4762500" y="2905125"/>
            <a:ext cx="3905400" cy="1428900"/>
            <a:chOff x="0" y="0"/>
            <a:chExt cx="3905400" cy="1428900"/>
          </a:xfrm>
        </p:grpSpPr>
        <p:sp>
          <p:nvSpPr>
            <p:cNvPr id="324" name="Google Shape;324;p21"/>
            <p:cNvSpPr/>
            <p:nvPr/>
          </p:nvSpPr>
          <p:spPr>
            <a:xfrm>
              <a:off x="0" y="0"/>
              <a:ext cx="3905400" cy="1428900"/>
            </a:xfrm>
            <a:prstGeom prst="roundRect">
              <a:avLst>
                <a:gd name="adj" fmla="val 5333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1"/>
            <p:cNvSpPr txBox="1"/>
            <p:nvPr/>
          </p:nvSpPr>
          <p:spPr>
            <a:xfrm>
              <a:off x="190500" y="142875"/>
              <a:ext cx="35244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6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04</a:t>
              </a:r>
              <a:endParaRPr sz="136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2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Lost-in-the-Middle Mitigation</a:t>
              </a:r>
              <a:endParaRPr sz="102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2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To evaluate the "lost-in-the-middle" effect and design a context-ordering strategy that mitigates positional bias.</a:t>
              </a:r>
              <a:endParaRPr sz="102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6" name="Google Shape;326;p21"/>
          <p:cNvGrpSpPr/>
          <p:nvPr/>
        </p:nvGrpSpPr>
        <p:grpSpPr>
          <a:xfrm>
            <a:off x="476250" y="4476750"/>
            <a:ext cx="8191500" cy="1143000"/>
            <a:chOff x="0" y="0"/>
            <a:chExt cx="8191500" cy="1143000"/>
          </a:xfrm>
        </p:grpSpPr>
        <p:sp>
          <p:nvSpPr>
            <p:cNvPr id="327" name="Google Shape;327;p21"/>
            <p:cNvSpPr/>
            <p:nvPr/>
          </p:nvSpPr>
          <p:spPr>
            <a:xfrm>
              <a:off x="0" y="0"/>
              <a:ext cx="8191500" cy="1143000"/>
            </a:xfrm>
            <a:prstGeom prst="roundRect">
              <a:avLst>
                <a:gd name="adj" fmla="val 6666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1"/>
            <p:cNvSpPr txBox="1"/>
            <p:nvPr/>
          </p:nvSpPr>
          <p:spPr>
            <a:xfrm>
              <a:off x="190500" y="142875"/>
              <a:ext cx="7810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6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05</a:t>
              </a:r>
              <a:endParaRPr sz="136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2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Latency Optimization</a:t>
              </a:r>
              <a:endParaRPr sz="102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2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To measure and optimize retrieval latency of the memory pipeline for real-time interaction.</a:t>
              </a:r>
              <a:endParaRPr sz="102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0" y="6347450"/>
            <a:ext cx="9166800" cy="510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835" y="0"/>
                </a:moveTo>
                <a:lnTo>
                  <a:pt x="119165" y="0"/>
                </a:lnTo>
                <a:cubicBezTo>
                  <a:pt x="119389" y="0"/>
                  <a:pt x="119601" y="1567"/>
                  <a:pt x="119751" y="4482"/>
                </a:cubicBezTo>
                <a:cubicBezTo>
                  <a:pt x="119913" y="7168"/>
                  <a:pt x="120000" y="11198"/>
                  <a:pt x="120000" y="15004"/>
                </a:cubicBezTo>
                <a:lnTo>
                  <a:pt x="120000" y="120000"/>
                </a:lnTo>
                <a:lnTo>
                  <a:pt x="0" y="120000"/>
                </a:lnTo>
                <a:lnTo>
                  <a:pt x="0" y="15004"/>
                </a:lnTo>
                <a:cubicBezTo>
                  <a:pt x="0" y="6721"/>
                  <a:pt x="374" y="5"/>
                  <a:pt x="835" y="5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2"/>
          <p:cNvSpPr txBox="1"/>
          <p:nvPr/>
        </p:nvSpPr>
        <p:spPr>
          <a:xfrm>
            <a:off x="3343275" y="6429375"/>
            <a:ext cx="24576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770" b="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6941134" y="0"/>
            <a:ext cx="2206800" cy="61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5806" y="0"/>
                </a:moveTo>
                <a:lnTo>
                  <a:pt x="4195" y="0"/>
                </a:lnTo>
                <a:cubicBezTo>
                  <a:pt x="3108" y="0"/>
                  <a:pt x="2020" y="1488"/>
                  <a:pt x="1243" y="4279"/>
                </a:cubicBezTo>
                <a:cubicBezTo>
                  <a:pt x="466" y="7070"/>
                  <a:pt x="0" y="10977"/>
                  <a:pt x="0" y="14884"/>
                </a:cubicBezTo>
                <a:lnTo>
                  <a:pt x="0" y="120000"/>
                </a:lnTo>
                <a:lnTo>
                  <a:pt x="120000" y="120000"/>
                </a:lnTo>
                <a:lnTo>
                  <a:pt x="120000" y="14884"/>
                </a:lnTo>
                <a:cubicBezTo>
                  <a:pt x="120000" y="6698"/>
                  <a:pt x="118135" y="0"/>
                  <a:pt x="115856" y="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22"/>
          <p:cNvSpPr/>
          <p:nvPr/>
        </p:nvSpPr>
        <p:spPr>
          <a:xfrm>
            <a:off x="0" y="0"/>
            <a:ext cx="9153600" cy="40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574" y="0"/>
                </a:moveTo>
                <a:lnTo>
                  <a:pt x="119401" y="0"/>
                </a:lnTo>
                <a:cubicBezTo>
                  <a:pt x="119563" y="0"/>
                  <a:pt x="119713" y="1395"/>
                  <a:pt x="119825" y="3907"/>
                </a:cubicBezTo>
                <a:cubicBezTo>
                  <a:pt x="119938" y="6419"/>
                  <a:pt x="120000" y="9767"/>
                  <a:pt x="120000" y="13395"/>
                </a:cubicBezTo>
                <a:lnTo>
                  <a:pt x="120000" y="120000"/>
                </a:lnTo>
                <a:lnTo>
                  <a:pt x="0" y="120000"/>
                </a:lnTo>
                <a:lnTo>
                  <a:pt x="0" y="13395"/>
                </a:lnTo>
                <a:cubicBezTo>
                  <a:pt x="0" y="5860"/>
                  <a:pt x="262" y="0"/>
                  <a:pt x="574" y="0"/>
                </a:cubicBezTo>
                <a:close/>
              </a:path>
            </a:pathLst>
          </a:custGeom>
          <a:solidFill>
            <a:srgbClr val="0B539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22"/>
          <p:cNvSpPr txBox="1"/>
          <p:nvPr/>
        </p:nvSpPr>
        <p:spPr>
          <a:xfrm>
            <a:off x="6943725" y="247650"/>
            <a:ext cx="22002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7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US" sz="77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660" b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770" b="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9" name="Google Shape;339;p22"/>
          <p:cNvSpPr txBox="1"/>
          <p:nvPr/>
        </p:nvSpPr>
        <p:spPr>
          <a:xfrm>
            <a:off x="381000" y="59055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Hardware &amp; Software Requirements</a:t>
            </a:r>
            <a:endParaRPr sz="2400" b="1">
              <a:solidFill>
                <a:srgbClr val="000000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  <p:grpSp>
        <p:nvGrpSpPr>
          <p:cNvPr id="340" name="Google Shape;340;p22"/>
          <p:cNvGrpSpPr/>
          <p:nvPr/>
        </p:nvGrpSpPr>
        <p:grpSpPr>
          <a:xfrm>
            <a:off x="476250" y="1428750"/>
            <a:ext cx="3905400" cy="4381500"/>
            <a:chOff x="0" y="0"/>
            <a:chExt cx="3905400" cy="4381500"/>
          </a:xfrm>
        </p:grpSpPr>
        <p:sp>
          <p:nvSpPr>
            <p:cNvPr id="341" name="Google Shape;341;p22"/>
            <p:cNvSpPr/>
            <p:nvPr/>
          </p:nvSpPr>
          <p:spPr>
            <a:xfrm>
              <a:off x="0" y="0"/>
              <a:ext cx="3905400" cy="4381500"/>
            </a:xfrm>
            <a:prstGeom prst="roundRect">
              <a:avLst>
                <a:gd name="adj" fmla="val 1951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2"/>
            <p:cNvSpPr txBox="1"/>
            <p:nvPr/>
          </p:nvSpPr>
          <p:spPr>
            <a:xfrm>
              <a:off x="190500" y="190500"/>
              <a:ext cx="35244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Hardware Requirements</a:t>
              </a:r>
              <a:endParaRPr sz="12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Processor</a:t>
              </a:r>
              <a:endParaRPr sz="11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Intel Core i7 (11th Gen+) / AMD Ryzen 7 or higher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RAM</a:t>
              </a:r>
              <a:endParaRPr sz="11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32 GB minimum (64 GB recommended)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GPU</a:t>
              </a:r>
              <a:endParaRPr sz="11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NVIDIA RTX 3060 (12 GB VRAM) or higher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Storage</a:t>
              </a:r>
              <a:endParaRPr sz="11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512 GB SSD minimum (1 TB recommended)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3" name="Google Shape;343;p22"/>
          <p:cNvGrpSpPr/>
          <p:nvPr/>
        </p:nvGrpSpPr>
        <p:grpSpPr>
          <a:xfrm>
            <a:off x="4762500" y="1428750"/>
            <a:ext cx="3905400" cy="4381500"/>
            <a:chOff x="0" y="0"/>
            <a:chExt cx="3905400" cy="4381500"/>
          </a:xfrm>
        </p:grpSpPr>
        <p:sp>
          <p:nvSpPr>
            <p:cNvPr id="344" name="Google Shape;344;p22"/>
            <p:cNvSpPr/>
            <p:nvPr/>
          </p:nvSpPr>
          <p:spPr>
            <a:xfrm>
              <a:off x="0" y="0"/>
              <a:ext cx="3905400" cy="4381500"/>
            </a:xfrm>
            <a:prstGeom prst="roundRect">
              <a:avLst>
                <a:gd name="adj" fmla="val 1951"/>
              </a:avLst>
            </a:prstGeom>
            <a:solidFill>
              <a:srgbClr val="F8FAFC"/>
            </a:solidFill>
            <a:ln w="14300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2"/>
            <p:cNvSpPr txBox="1"/>
            <p:nvPr/>
          </p:nvSpPr>
          <p:spPr>
            <a:xfrm>
              <a:off x="190500" y="190500"/>
              <a:ext cx="35244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Software &amp; Tools Used</a:t>
              </a:r>
              <a:endParaRPr sz="12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Language</a:t>
              </a:r>
              <a:endParaRPr sz="11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Python 3.10+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IDE</a:t>
              </a:r>
              <a:endParaRPr sz="11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VS Code / Jupyter Notebook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Model Library</a:t>
              </a:r>
              <a:endParaRPr sz="11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Hugging Face Transformers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Orchestration</a:t>
              </a:r>
              <a:endParaRPr sz="11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LangChain / LlamaIndex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Vector Store</a:t>
              </a:r>
              <a:endParaRPr sz="11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FAISS or ChromaDB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Deep Learning</a:t>
              </a:r>
              <a:endParaRPr sz="11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PyTorch with CUDA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50" b="1">
                  <a:solidFill>
                    <a:srgbClr val="0B5394"/>
                  </a:solidFill>
                  <a:latin typeface="Arial"/>
                  <a:ea typeface="Arial"/>
                  <a:cs typeface="Arial"/>
                  <a:sym typeface="Arial"/>
                </a:rPr>
                <a:t>Version Control</a:t>
              </a:r>
              <a:endParaRPr sz="1150" b="1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 b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Git / GitHub</a:t>
              </a:r>
              <a:endParaRPr sz="1150" b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1184</Words>
  <Application>Microsoft Office PowerPoint</Application>
  <PresentationFormat>On-screen Show (4:3)</PresentationFormat>
  <Paragraphs>169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Archivo Narrow</vt:lpstr>
      <vt:lpstr>Calibri</vt:lpstr>
      <vt:lpstr>Arial</vt:lpstr>
      <vt:lpstr>Georgia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Samuel Alex</cp:lastModifiedBy>
  <cp:revision>1</cp:revision>
  <dcterms:modified xsi:type="dcterms:W3CDTF">2026-07-09T05:48:13Z</dcterms:modified>
</cp:coreProperties>
</file>